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APEX  —  Walkthrough for DMTSP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Deloitte's agentic-AI delivery framework — what it is · how to demo it · how to make it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104698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64592" cy="3017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011680"/>
            <a:ext cx="457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06040"/>
            <a:ext cx="9601200" cy="21031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0" i="0">
                <a:solidFill>
                  <a:srgbClr val="1A1F2E"/>
                </a:solidFill>
                <a:latin typeface="Calibri"/>
              </a:rPr>
              <a:t>APEX is Deloitte's agentic-AI delivery framework — the engagement layer cloud vendors don't ship.</a:t>
            </a:r>
          </a:p>
          <a:p>
            <a:pPr algn="l"/>
            <a:r>
              <a:rPr sz="1800" b="0" i="0">
                <a:solidFill>
                  <a:srgbClr val="1A1F2E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1A1F2E"/>
                </a:solidFill>
                <a:latin typeface="Calibri"/>
              </a:rPr>
              <a:t>Foundry, Vertex, and Bedrock are agent runtimes. They are not engagement systems. APEX is what</a:t>
            </a:r>
          </a:p>
          <a:p>
            <a:pPr algn="l"/>
            <a:r>
              <a:rPr sz="1800" b="0" i="0">
                <a:solidFill>
                  <a:srgbClr val="1A1F2E"/>
                </a:solidFill>
                <a:latin typeface="Calibri"/>
              </a:rPr>
              <a:t>turns an agent runtime into a billable, audit-defensible, repeatable Deloitte delivery — sold as</a:t>
            </a:r>
          </a:p>
          <a:p>
            <a:pPr algn="l"/>
            <a:r>
              <a:rPr sz="1800" b="0" i="0">
                <a:solidFill>
                  <a:srgbClr val="1A1F2E"/>
                </a:solidFill>
                <a:latin typeface="Calibri"/>
              </a:rPr>
              <a:t>agentic services on top of the framework, scoped per Industry Pack.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WHAT YOU'LL LEAVE WITH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Three concrete outcomes from this 30-minute walkthrough.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Pack · VV · profile · LEDGER · envelope tier.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Demo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Click sequence you can show any client in 10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Sales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BVA → Pack Lite → Standard → Operate — every engagement.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Positioning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Why APEX is NOT a product — and what we actually sell.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APEX  — 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The simplest framing — start every client conversation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Memorize: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“APEX is the engagement layer cloud vendors don't ship.”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104698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64592" cy="3017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457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06040"/>
            <a:ext cx="9601200" cy="21031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0" i="0">
                <a:solidFill>
                  <a:srgbClr val="1A1F2E"/>
                </a:solidFill>
                <a:latin typeface="Calibri"/>
              </a:rPr>
              <a:t>Foundry, Vertex, and Bedrock are excellent agent runtimes.</a:t>
            </a:r>
          </a:p>
          <a:p>
            <a:pPr algn="l"/>
            <a:r>
              <a:rPr sz="2000" b="0" i="0">
                <a:solidFill>
                  <a:srgbClr val="1A1F2E"/>
                </a:solidFill>
                <a:latin typeface="Calibri"/>
              </a:rPr>
              <a:t>They are not engagement systems.</a:t>
            </a:r>
          </a:p>
          <a:p>
            <a:pPr algn="l"/>
            <a:r>
              <a:rPr sz="2000" b="0" i="0">
                <a:solidFill>
                  <a:srgbClr val="1A1F2E"/>
                </a:solidFill>
                <a:latin typeface="Calibri"/>
              </a:rPr>
              <a:t/>
            </a:r>
          </a:p>
          <a:p>
            <a:pPr algn="l"/>
            <a:r>
              <a:rPr sz="2000" b="0" i="0">
                <a:solidFill>
                  <a:srgbClr val="1A1F2E"/>
                </a:solidFill>
                <a:latin typeface="Calibri"/>
              </a:rPr>
              <a:t>APEX is what turns an agent runtime into a billable,</a:t>
            </a:r>
          </a:p>
          <a:p>
            <a:pPr algn="l"/>
            <a:r>
              <a:rPr sz="2000" b="0" i="0">
                <a:solidFill>
                  <a:srgbClr val="1A1F2E"/>
                </a:solidFill>
                <a:latin typeface="Calibri"/>
              </a:rPr>
              <a:t>audit-defensible, repeatable Deloitte delivery.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BOTTOM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Without APEX, an agent project competes with what a client can build alone from cloud-vendor docs. With APEX, Deloitte sells the engagement layer the cloud vendors do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Billable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Defined methodology + SOW templates.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WORM LEDGER + hash-chain replay.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Repeatable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Industry packs ship the canonical playbook.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Sellable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Envelopes give sellers a defined motion.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Problem  —  An Agent Runtime Is Not An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Cloud vendors ship the runtime. We sell what surrounds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Why APEX: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Foundry, Vertex, and Bedrock are excellent agent runtimes. They are not engagement systems. APEX is the layer that turns an agent runtime into a billable, audit-defensible, repeatable Deloitte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56692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566928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1"/>
            <a:ext cx="5486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CLOUD VENDORS GIVE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Agent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4203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Foundry · Vertex Agent Builder · Bedrock Agents — orchestration, sessions,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9864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LLM hosting +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3639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Azure OpenAI · Vertex Model Garden · Bedrock — model catalog and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9300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Storage primitives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OneLake · GCS · S3 — lakehouse foundations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8736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Identity primitives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2511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Entra · Cloud Identity · IAM — directory, OBO, federation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8172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Catalog primitives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1947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Purview · Dataplex · DataZone — lineage,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874519"/>
            <a:ext cx="56692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874519"/>
            <a:ext cx="5669280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901951"/>
            <a:ext cx="5486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APEX ADDS  (the Margin Spine)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0428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4203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Chain pattern · Wave 1/2/3 commercial arc · six discovery openers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89864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Canonical schemas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13639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35+ industry schemas across MFGML · FINML · RISKML · MERML · CXML · OPSML · ESGML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LEDGER audit substrate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73075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14-field WORM hash chain · cryptographically replayable decision 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08736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Industry verticalization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2511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Seven Industry Solution Packs · industry-tuned thresholds and resolution routes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681727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Commercial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919471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5-tier Service Envelopes · BVA → DCIF → ISV → T&amp;M → Operate funding paths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BOTTOM 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Without APEX, an agent project looks like staff augmentation. With APEX, Deloitte sells the engagement layer cloud vendors do not — and the deal shape changes accordingly.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Billable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Defined methodology + SOW templates.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WORM ledger + hash-chain replay.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Repeatable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Industry packs ship the canonical playbook.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Sellable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Envelopes give sellers a defined motion.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Five Pieces of APEX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Core  •  Profiles  •  Packs  •  Envelopes  •  LEDGER  —  every engagement assembles from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Position: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APEX is Deloitte's agentic-AI delivery framework: a Cloud-Neutral Core running on top of cloud-native agent runtimes (Foundry · Vertex · Bedrock) plus a Margin Spine — Virtual Views, Industry Solution Packs, Service Envelopes, and a WORM LEDGER — that makes agent work sellable, auditable, and repeatable.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104698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64592" cy="3017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45720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06040"/>
            <a:ext cx="9601200" cy="21031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700" b="0" i="0">
                <a:solidFill>
                  <a:srgbClr val="1A1F2E"/>
                </a:solidFill>
                <a:latin typeface="Calibri"/>
              </a:rPr>
              <a:t>APEX is Deloitte's agentic-AI delivery framework: a Cloud-Neutral Core that runs on top of</a:t>
            </a:r>
          </a:p>
          <a:p>
            <a:pPr algn="l"/>
            <a:r>
              <a:rPr sz="1700" b="0" i="0">
                <a:solidFill>
                  <a:srgbClr val="1A1F2E"/>
                </a:solidFill>
                <a:latin typeface="Calibri"/>
              </a:rPr>
              <a:t>cloud-native agent runtimes (Foundry · Vertex · Bedrock) and adds a Margin Spine — Virtual</a:t>
            </a:r>
          </a:p>
          <a:p>
            <a:pPr algn="l"/>
            <a:r>
              <a:rPr sz="1700" b="0" i="0">
                <a:solidFill>
                  <a:srgbClr val="1A1F2E"/>
                </a:solidFill>
                <a:latin typeface="Calibri"/>
              </a:rPr>
              <a:t>Views, Industry Solution Packs, Service Envelopes, and a WORM LEDGER — that makes agent</a:t>
            </a:r>
          </a:p>
          <a:p>
            <a:pPr algn="l"/>
            <a:r>
              <a:rPr sz="1700" b="0" i="0">
                <a:solidFill>
                  <a:srgbClr val="1A1F2E"/>
                </a:solidFill>
                <a:latin typeface="Calibri"/>
              </a:rPr>
              <a:t>work sellable, auditable, and repeatable.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THE FIVE PIECES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Each piece is a section of this deck.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Cloud-Neutral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VV runtime · LEDGER · 6-Agent Fleet · MCP contracts.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Cloud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APEX-M · APEX-G · APEX-A · 14-interface contract.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Industry Packs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10-asset bundle · Manufacturing v1 · 6 more in catalog.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Service Envelopes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5 tiers Deloitte sells · 3 pack sub-tiers.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APEX Family  —  M  /  G  / 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Three cloud-native variants  •  one shared Cloud-Neutral Core  •  one shared pack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Position: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APEX-M, APEX-G, APEX-A are not three products. They are three implementations of the same Cloud Profile contract. The Core (VV runtime, LEDGER, agent fleet) is cloud-neutral. Industry Packs are cloud-agnostic. Only the 14-interface profile changes per cloud.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727704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3727704" cy="2926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1"/>
            <a:ext cx="3544824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APEX-M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5999"/>
            <a:ext cx="3544824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Microsoft  /  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24327"/>
            <a:ext cx="3544824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24327"/>
            <a:ext cx="3544824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GA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Foundry + Azure 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747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OneLake (Delta) + Fabric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319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Entra ID · Key Vault · Purview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Teams Adaptive Cards (HITL)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Azure Maps Creator (CFMP iface #15)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0624" y="1874519"/>
            <a:ext cx="3727704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30624" y="1874519"/>
            <a:ext cx="3727704" cy="292608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2064" y="1901951"/>
            <a:ext cx="3544824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APEX-G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2064" y="2285999"/>
            <a:ext cx="3544824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Google  /  GCP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2064" y="2624327"/>
            <a:ext cx="3544824" cy="2743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2064" y="2624327"/>
            <a:ext cx="3544824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Beta Q3 FY27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064" y="30175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Vertex AI + 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2064" y="34747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BigQuery + BigLake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2064" y="39319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Cloud Identity · Secret Manager · Dataplex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2064" y="43891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Google Chat cards / GWS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2064" y="48463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Google Maps Geospatial Creator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9768" y="1874519"/>
            <a:ext cx="3727704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9768" y="1874519"/>
            <a:ext cx="3727704" cy="2926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1208" y="1901951"/>
            <a:ext cx="3544824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APEX-A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285999"/>
            <a:ext cx="3544824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Amazon  /  AWS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1208" y="2624327"/>
            <a:ext cx="3544824" cy="274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1208" y="2624327"/>
            <a:ext cx="3544824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Beta Q4 FY27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1208" y="30175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Bedrock (Claude / Nova)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1208" y="34747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S3 + Lake 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1208" y="39319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IAM Identity Center · Secrets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1208" y="43891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Slack Connect / Workmail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1208" y="4846319"/>
            <a:ext cx="3544824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•  Amazon Location Service indoor maps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ONE FAMILY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Same Core. Same packs. Same envelopes. Different cloud profile. Replatform = change `profile:` in cloud-profile.yaml.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Shared 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VV runtime · LEDGER · agent fleet · MCP.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Shared Packs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CFMP &amp; every other Pack runs identically on M/G/A.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Cloud-specific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14 interfaces · storage · LLM · HITL · identity · maps.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Marketplace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Azure · GCP · AWS marketplaces for burndown.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Industry Solution Packs  —  The Catalog (7 today)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Same 10-asset structure every Pack — that's why new Packs land predictably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Catalog: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Each Pack ships the same 10 assets (VVs · scenarios · adapters · cards · personas · demo-data · BVA · SOW · tests · runbook). Only the contents change per industry. CFMP is the 7th and the first organized around a customer-moment spine.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02920" cy="3840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83080"/>
            <a:ext cx="3566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783080"/>
            <a:ext cx="3749039" cy="3840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783080"/>
            <a:ext cx="3602735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783080"/>
            <a:ext cx="3337560" cy="3840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1783080"/>
            <a:ext cx="319125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Buyer persona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783080"/>
            <a:ext cx="2240280" cy="3840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83080"/>
            <a:ext cx="2093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60" y="1783080"/>
            <a:ext cx="1371600" cy="3840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97312" y="1783080"/>
            <a:ext cx="122529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67128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2167128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2167128"/>
            <a:ext cx="3337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16712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24160" y="216712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167128"/>
            <a:ext cx="3566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0" i="0">
                <a:solidFill>
                  <a:srgbClr val="1A1F2E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2167128"/>
            <a:ext cx="3602735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Manufacturing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2167128"/>
            <a:ext cx="319125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Plant Manager · Ops Director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2167128"/>
            <a:ext cx="2093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MFGML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2240280"/>
            <a:ext cx="1188720" cy="23774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0" y="2240280"/>
            <a:ext cx="1188720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551176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" y="2551176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0" y="2551176"/>
            <a:ext cx="3337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25511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24160" y="255117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" y="2551176"/>
            <a:ext cx="3566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0" i="0">
                <a:solidFill>
                  <a:srgbClr val="1A1F2E"/>
                </a:solidFill>
                <a:latin typeface="Calibr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" y="2551176"/>
            <a:ext cx="3602735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Retail Merchandising 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2551176"/>
            <a:ext cx="319125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Chief Merchant · DMM · Planning Lead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2551176"/>
            <a:ext cx="2093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MERML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2624328"/>
            <a:ext cx="118872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0" y="2624328"/>
            <a:ext cx="1188720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v1 Q2 FY27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935224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2935224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54880" y="2935224"/>
            <a:ext cx="3337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293522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24160" y="293522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" y="2935224"/>
            <a:ext cx="3566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0" i="0">
                <a:solidFill>
                  <a:srgbClr val="1A1F2E"/>
                </a:solidFill>
                <a:latin typeface="Calibr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" y="2935224"/>
            <a:ext cx="3602735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Finance / Controllership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2935224"/>
            <a:ext cx="319125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Controller · CFO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2935224"/>
            <a:ext cx="2093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FINML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15600" y="3008376"/>
            <a:ext cx="118872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3008376"/>
            <a:ext cx="1188720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v1 Q4 FY27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3319272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0120" y="3319272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54880" y="3319272"/>
            <a:ext cx="3337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38160" y="33192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24160" y="331927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632" y="3319272"/>
            <a:ext cx="3566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0" i="0">
                <a:solidFill>
                  <a:srgbClr val="1A1F2E"/>
                </a:solidFill>
                <a:latin typeface="Calibr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" y="3319272"/>
            <a:ext cx="3602735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Risk &amp; Compliance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28032" y="3319272"/>
            <a:ext cx="319125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SOX PMO Lead · CRO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319272"/>
            <a:ext cx="2093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RISKML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15600" y="3392424"/>
            <a:ext cx="118872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15600" y="3392424"/>
            <a:ext cx="1188720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v1 Q4 FY27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3703320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0120" y="3703320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54880" y="3703320"/>
            <a:ext cx="3337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38160" y="3703320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24160" y="370332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4632" y="3703320"/>
            <a:ext cx="3566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0" i="0">
                <a:solidFill>
                  <a:srgbClr val="1A1F2E"/>
                </a:solidFill>
                <a:latin typeface="Calibri"/>
              </a:rPr>
              <a:t>05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272" y="3703320"/>
            <a:ext cx="3602735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Customer Experience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8032" y="3703320"/>
            <a:ext cx="319125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Care Ops Lead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1312" y="3703320"/>
            <a:ext cx="2093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CXML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15600" y="3776472"/>
            <a:ext cx="118872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15600" y="3776472"/>
            <a:ext cx="1188720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v1 Q4 FY27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087368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120" y="4087368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754880" y="4087368"/>
            <a:ext cx="3337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38160" y="40873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424160" y="408736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4632" y="4087368"/>
            <a:ext cx="3566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0" i="0">
                <a:solidFill>
                  <a:srgbClr val="1A1F2E"/>
                </a:solidFill>
                <a:latin typeface="Calibri"/>
              </a:rPr>
              <a:t>06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3272" y="4087368"/>
            <a:ext cx="3602735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ESG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28032" y="4087368"/>
            <a:ext cx="319125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Sustainability Officer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11312" y="4087368"/>
            <a:ext cx="2093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ESGML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4160520"/>
            <a:ext cx="118872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515600" y="4160520"/>
            <a:ext cx="1188720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v1 Q3 FY28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4471416"/>
            <a:ext cx="502920" cy="384048"/>
          </a:xfrm>
          <a:prstGeom prst="rect">
            <a:avLst/>
          </a:prstGeom>
          <a:solidFill>
            <a:srgbClr val="F8FCEC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60120" y="4471416"/>
            <a:ext cx="3749039" cy="384048"/>
          </a:xfrm>
          <a:prstGeom prst="rect">
            <a:avLst/>
          </a:prstGeom>
          <a:solidFill>
            <a:srgbClr val="F8FCEC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754880" y="4471416"/>
            <a:ext cx="3337560" cy="384048"/>
          </a:xfrm>
          <a:prstGeom prst="rect">
            <a:avLst/>
          </a:prstGeom>
          <a:solidFill>
            <a:srgbClr val="F8FCEC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38160" y="4471416"/>
            <a:ext cx="2240280" cy="384048"/>
          </a:xfrm>
          <a:prstGeom prst="rect">
            <a:avLst/>
          </a:prstGeom>
          <a:solidFill>
            <a:srgbClr val="F8FCEC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424160" y="4471416"/>
            <a:ext cx="1371600" cy="384048"/>
          </a:xfrm>
          <a:prstGeom prst="rect">
            <a:avLst/>
          </a:prstGeom>
          <a:solidFill>
            <a:srgbClr val="F8FCEC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4632" y="4471416"/>
            <a:ext cx="35661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1A1F2E"/>
                </a:solidFill>
                <a:latin typeface="Calibri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3272" y="4471416"/>
            <a:ext cx="3602735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1A1F2E"/>
                </a:solidFill>
                <a:latin typeface="Calibri"/>
              </a:rPr>
              <a:t>CFMP · Customer Focused Merchandise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28032" y="4471416"/>
            <a:ext cx="319125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CMO · CX-VP · Loyalty Director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11312" y="4471416"/>
            <a:ext cx="2093976" cy="3840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CXML + MERML + new cfmp namespace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15600" y="4544568"/>
            <a:ext cx="1188720" cy="23774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15600" y="4544568"/>
            <a:ext cx="1188720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Phase 1 LIVE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WHY THIS COMPOUNDS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Each new Pack is identical engineering work — populate the same 10 slots. Pack catalog growth doesn't scale the platform team.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Repeatable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10-slot bundle every time.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Predictable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Engineering time per Pack is bounded.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Composable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Cross-pack scenarios via imports.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Sellable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Each Pack maps to industry-led conversations.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Industry Solution Packs  —  10-Asset Bundle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Virtual Views + Scenarios bundled per industry  •  identical structure across every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What you buy: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Industry Packs are the productization unit. Every Pack ships the same 10 assets — only the contents change. Same engineering structure means new Packs land in predictable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2880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4708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1   VV Manifests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5798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views/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Declarative federated views with thresholds + resolution routes.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4912" y="182880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24912" y="182880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184708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2   Scenario Manifests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15798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scenarios/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242316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End-to-end business outcomes composed from VVs.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82880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8344" y="182880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4" y="184708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3   Source Adapters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215798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adapters/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42316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Connectors to common source systems for the industry.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51776" y="182880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51776" y="182880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184708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4   Adaptive Cards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15798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cards/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242316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JSON cards per persona role and breach band.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65208" y="182880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65208" y="182880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184708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5   Persona 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15798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personas.yaml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242316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Role-to-identity binding + SLAs + escalation chains.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61188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61188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63016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6   Demo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94106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demo-data/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20624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Synthetic data so the Pack runs on a laptop.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24912" y="361188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24912" y="361188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363016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7   BVA Worksheet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394106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bva/&lt;ind&gt;-roi.xlsx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16352" y="420624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Industry-tuned ROI calculator for BVA workshops.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8344" y="361188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38344" y="361188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9784" y="363016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8   Sample SOW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784" y="394106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envelopes/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784" y="420624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Lite / Standard / Enterprise SOW templates.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51776" y="361188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51776" y="361188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3216" y="363016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9   Acceptance Tests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43216" y="394106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tests/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3216" y="420624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60+ tests proving Pack health in CI.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65208" y="3611880"/>
            <a:ext cx="22219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65208" y="3611880"/>
            <a:ext cx="2221992" cy="2743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56648" y="3630168"/>
            <a:ext cx="2039112" cy="23774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10   Runbook + Training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6648" y="3941064"/>
            <a:ext cx="203911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1" i="0">
                <a:solidFill>
                  <a:srgbClr val="0078D4"/>
                </a:solidFill>
                <a:latin typeface="Calibri"/>
              </a:rPr>
              <a:t>runbooks/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56648" y="4206240"/>
            <a:ext cx="2039112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Operate procedures + analyst training materials.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BOTTOM LINE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Same engineering structure every Pack means new Packs land in predictable time — Pack catalog growth doesn't scale the platform team.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Repeatable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10-slot bundle every time.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Predictable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Engineering time per Pack is bounded.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Composable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Cross-pack scenarios via imports.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Sellable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Each Pack maps to industry-led conversations.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Spotlight  —  CFMP, the Live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Customer Focused Merchandise Pack v0.2 · Phase 1 LIVE on APEX-M dev 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Why CFMP: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First Industry Pack organized around a customer-moment spine — sibling to (not a replacement for) the operator-side Retail Merchandising Pack v1. Buyer: CMO / CX-VP / Loyalty Director.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2788920" cy="2926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260604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514600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“What should I buy?”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Recipes · pairings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Dietary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2044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Personalized offers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In-store ad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4340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Sampling-table engagement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874519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874519"/>
            <a:ext cx="2788920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901952"/>
            <a:ext cx="260604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286000"/>
            <a:ext cx="2514600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“Where is it?”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9748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Wayfinding (iface #15)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10896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OSA / shelf-gap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2044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Planogram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3192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Aisle engagement attribution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34340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End-cap ROI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874519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874519"/>
            <a:ext cx="2788920" cy="2926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901952"/>
            <a:ext cx="260604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86000"/>
            <a:ext cx="2514600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“How do I pay?”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69748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Scan-and-go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10896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Self-checkout assist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Queue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93192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BOPIS pickup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34340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Cart-abandon recovery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1874519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1874519"/>
            <a:ext cx="2788920" cy="292608"/>
          </a:xfrm>
          <a:prstGeom prst="rect">
            <a:avLst/>
          </a:prstGeom>
          <a:solidFill>
            <a:srgbClr val="B44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1901952"/>
            <a:ext cx="260604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2286000"/>
            <a:ext cx="2514600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“What's next from you?”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69748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Loyalty winback 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10896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Loyalty tier migration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52044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Complaint triage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93192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Review 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343400"/>
            <a:ext cx="24231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•  Sentiment + NPS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WHAT'S LIVE TODAY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Phase 1 of CFMP is live on APEX-M dev substrate. Demo URL: ca-visionkit-portal…/architecture.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18 scenarios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Mapped to the 4 customer-moment phases.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 new VVs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merml.* + cxml.* + cfmp.storemap_view.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Iface #15 (CFMP)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Azure Maps Creator for indoor wayfinding.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Lite engagement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$150K–$250K · 4–6 weeks · BVA + DCIF.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to Drive the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Open in front of the client — talk through each surface · 10 minutes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URL: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ca-visionkit-portal.gentlestone-9b49b099.eastus2.azurecontainerapps.io/architecture  ←  open this for the architecture overview · root URL for the customer-facing CFMP demo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1783080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53035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Calibri"/>
              </a:rPr>
              <a:t>Start at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53035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“This is what the customer sees at the sampling table or kiosk.” Note the 4 phase chips: CHOOSE · SELECT · BUY · SERVICES.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670048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53035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Calibri"/>
              </a:rPr>
              <a:t>Type: Where can I find Coca-Cola?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53035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Watch the Wayfinding route card render — zone, aisle, distance, turn-by-turn. This rides proposed Interface #15 (Azure Maps Creator).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3557015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38727"/>
            <a:ext cx="53035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Calibri"/>
              </a:rPr>
              <a:t>Toggle a dietary 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5"/>
            <a:ext cx="53035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(e.g. dairy-free) Then hold a dairy product up. Proactive associate fires a red Dietary alert + suggests a compliant swap.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4443984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25696"/>
            <a:ext cx="53035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Calibri"/>
              </a:rPr>
              <a:t>Add to cart, click a cart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18304"/>
            <a:ext cx="53035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Cart is client-authoritative; agent emits cart_actions in its reply. Click a cart item → agent describes it in chat.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1783080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764792"/>
            <a:ext cx="53035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Calibri"/>
              </a:rPr>
              <a:t>Open /architecture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057400"/>
            <a:ext cx="53035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12-section page. Hit “expand all” on the dependency tree (Section 3) to walk customer→portal→orchestrator→Azure→devices.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670048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651760"/>
            <a:ext cx="53035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Calibri"/>
              </a:rPr>
              <a:t>Click Details ⓘ on any Azure 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944368"/>
            <a:ext cx="53035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Modal opens with host env, configuration, cost estimate, consumption metrics. Proves it's real Azure, not a mockup.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557015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538727"/>
            <a:ext cx="53035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Calibri"/>
              </a:rPr>
              <a:t>Show Section 11 (APEX accelerator)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831335"/>
            <a:ext cx="53035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12,649 lines of APEX framework code · 341 lines of CFMP glue · 509 passing tests. That's why this shipped in weeks.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4443984"/>
            <a:ext cx="384048" cy="38404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425696"/>
            <a:ext cx="53035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50" b="1" i="0">
                <a:solidFill>
                  <a:srgbClr val="1A1F2E"/>
                </a:solidFill>
                <a:latin typeface="Calibri"/>
              </a:rPr>
              <a:t>Toggle 🎓 APEX tour (flyout)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18304"/>
            <a:ext cx="530352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Right-side flyout cycles through 10 educational topics about Packs, VVs, CFMP — built-in conversation starter.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PACING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Eight steps × about 60 seconds each = a full walkthrough in 8–10 minutes. Keep the architecture page open in a second tab from the start.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Steps 1-4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Customer chat surface · ~4 minutes.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Steps 5-7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/architecture deep-dive · ~4 minutes.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Step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APEX tour flyout · ~2 minutes.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Then close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Recap with the BVA → Pack Lite path (slide 12).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Service Envelope Stack  —  5 Tiers Deloitte Sells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Stackable engagement tiers with independence-safe funding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Position: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Every APEX engagement assembles from five stackable tiers. Foundation is sold once per tenant. Industry Packs are sold per industry in three sub-tiers. Scenarios and Custom builds layer on top. Operate is the run-rate.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19656"/>
            <a:ext cx="640080" cy="6400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19656"/>
            <a:ext cx="64008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01368"/>
            <a:ext cx="530352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APEX Platform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57400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VV runtime · federator · MCP auto-reg · LEDGER · Entra/Purview wiring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929384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9384"/>
            <a:ext cx="224028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Sold once per client tenant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929384"/>
            <a:ext cx="2651760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929384"/>
            <a:ext cx="265176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Fixed fee · 6–10 wks · $400–700K · BVA + DCIF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32888"/>
            <a:ext cx="640080" cy="6400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32888"/>
            <a:ext cx="64008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514600"/>
            <a:ext cx="530352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Pack Lite / Standard /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770632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10-asset Pack bundle — manifests, adapters, cards, BVA, SOW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642616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642616"/>
            <a:ext cx="224028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Sold per industry · 3 sub-tiers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2642616"/>
            <a:ext cx="2651760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642616"/>
            <a:ext cx="265176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Tiered · 4 wks–9 mo · $100K–$3.5M · DCIF · T&amp;M · ISV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46120"/>
            <a:ext cx="640080" cy="6400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46120"/>
            <a:ext cx="64008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227832"/>
            <a:ext cx="530352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Single Scenario Chain 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483864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One named outcome (e.g. SOX PMO testing) live on client's sources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55848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355848"/>
            <a:ext cx="224028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Sold per business outcome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355848"/>
            <a:ext cx="2651760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3355848"/>
            <a:ext cx="265176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Fixed fee · 4–8 wks · $150–400K · DCIF · T&amp;M · ISV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959352"/>
            <a:ext cx="640080" cy="6400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959352"/>
            <a:ext cx="64008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941064"/>
            <a:ext cx="530352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New VV / new Scenario  (bespoke)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197096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Client-specific manifest added to their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069080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069080"/>
            <a:ext cx="224028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Sold as advisory + dev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4069080"/>
            <a:ext cx="2651760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4069080"/>
            <a:ext cx="265176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T&amp;M · Sprints · Variable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672584"/>
            <a:ext cx="640080" cy="6400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672584"/>
            <a:ext cx="64008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654296"/>
            <a:ext cx="530352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APEX Operate Managed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4910328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24×7 monitoring · threshold tuning · Pack version uptake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4782312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782312"/>
            <a:ext cx="224028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0" i="0">
                <a:solidFill>
                  <a:srgbClr val="1A1F2E"/>
                </a:solidFill>
                <a:latin typeface="Calibri"/>
              </a:rPr>
              <a:t>Run-rate / steady state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4782312"/>
            <a:ext cx="2651760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4782312"/>
            <a:ext cx="265176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Subscription · Continuous · $/mo · Client direct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WHY THIS SELLS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Five compartmentalized envelopes with defined SOW templates, BVA worksheets, and acceptance criteria let an LCSP price a new conversation in minutes.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Enter anywhere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BVA-led Pack Lite is the standard wedge.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Grow downward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Foundation underpins all higher tiers.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Grow outward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Add packs and scenarios per industry.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Run-rate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Operate tier compounds into managed-service.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Funding &amp; Independence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Independence-safe paths for every envelope  •  Deloitte never receives ECIF directly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Rule: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Deloitte is Microsoft's auditor. Per SEC rules, Deloitte cannot receive ECIF directly. Workarounds via ISV Marketplace + SI Teaming keep Microsoft money flowing without compromising independence. APEX-G / APEX-A have no such constraint.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56692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5669280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1"/>
            <a:ext cx="5486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  (independence-safe funding)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1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BVA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946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Client-funded discovery 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3463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DCIF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7238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Deloitte co-invest fund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3755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ISV 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7530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Microsoft money flows via the Marketplace burndown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4047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SI Teaming 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7822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Non-competing SI runs the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339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T&amp;M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8114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Custom Build (T4) and Operate (T5)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4631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Client direct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8406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Operate run-rate billing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874519"/>
            <a:ext cx="56692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874519"/>
            <a:ext cx="566928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01951"/>
            <a:ext cx="5486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 NOT  (independence violations)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1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Route ECIF through Deloitte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56946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Direct ECIF receipt breaks independence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83463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Imply joint commercial 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07238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“Partnership” / “alliance” language is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33755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Describe APEX as a Microsoft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57530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APEX is Deloitte IP, not Microsoft's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4047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Take Microsoft co-sell credit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7822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Engagement is Deloitte's, not joint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34339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Skip the language discipline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58114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Always: “Deloitte's Microsoft practice” / DMTSP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84631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Sell APEX itself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8406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We sell agentic delivery services on the framework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CROSS-CLOUD FUNDING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APEX-G uses Google Industry Accelerator (GIA). APEX-A uses AWS Migration Acceleration Program (MAP). No independence wrinkle on G/A.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APEX-M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ISV/SI burndown · BVA · DCIF.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APEX-G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GIA + GCP Marketplace burndown.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APEX-A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AWS MAP + AWS Marketplace burndown.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BVA-led discovery is the universal first step.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We DO and DO NOT Sell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The single most important framing — repeat it every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Rule: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APEX is Deloitte IP. Industry Packs (including CFMP) are scoped delivery engagements sold per industry as Deloitte agentic services. The framework itself is never licensed 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56692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566928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1"/>
            <a:ext cx="5486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❌  APEX is NOT a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3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Not a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1518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Not a license, not a subscription a client can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7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Not co-branded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9242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Not Microsoft / Google / Amazon co-sell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31918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Not on 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69662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Pack-specific ISV listings exist for burndown — those are different from APEX itself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874519"/>
            <a:ext cx="56692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74519"/>
            <a:ext cx="5669280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01951"/>
            <a:ext cx="5486400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✅  APEX IS Deloitte's delivery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3171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Delivery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6946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An engagement layer that turns cloud-vendor runtimes into Deloitte deliveries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71798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Agentic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09542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What we sell is Deloitte agentic-AI delivery services on the APEX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11879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Scoped per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49623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Engagement signs an SOW for a specific Pack at a specific sub-tier (e.g. CFMP Lite)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58"/>
            <a:ext cx="530352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Deloitte 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89702"/>
            <a:ext cx="53035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Framework code (Core, Profiles, Packs) is Deloitte IP — never licensed out standalone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THE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When clients ask “Can I have APEX?” the answer is: “You can engage Deloitte to deliver an APEX-based solution. Here's what that looks like…”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Buyer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CMO / CX-VP (CFMP) · Ops VP (Manufacturing) · CRO (Risk) · etc.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Vehicle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SOW under the right Service Envelope tier.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Funding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BVA · DCIF · ISV burndown · T&amp;M · Client direct.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Pack Lite live in 4–6 wks · Standard in 12–16 · Operate run-rate.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Standard Wedge  —  BVA → Pack 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How every CFMP-style engagement actually starts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Motion: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BVA earns the pilot. The pilot earns the rollout. The rollout earns Operate. Each step is additive — no client ever pays to redo earlier work.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1737360"/>
            <a:ext cx="457200" cy="45720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86BC25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222199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286000"/>
            <a:ext cx="2221992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13432"/>
            <a:ext cx="203911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947672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Discovery 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1947672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⏱  4 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1947672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1947672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86BC25"/>
                </a:solidFill>
                <a:latin typeface="Calibri"/>
              </a:rPr>
              <a:t>Client-funded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1947672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Scenario shortlist · stakeholder + persona map · pilot SOW skeleton ready</a:t>
            </a:r>
          </a:p>
        </p:txBody>
      </p:sp>
      <p:sp>
        <p:nvSpPr>
          <p:cNvPr id="18" name="Oval 17"/>
          <p:cNvSpPr/>
          <p:nvPr/>
        </p:nvSpPr>
        <p:spPr>
          <a:xfrm>
            <a:off x="3593592" y="1737360"/>
            <a:ext cx="457200" cy="45720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86BC25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4912" y="2286000"/>
            <a:ext cx="222199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24912" y="2286000"/>
            <a:ext cx="2221992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2313432"/>
            <a:ext cx="203911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Pack 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2" y="2651760"/>
            <a:ext cx="1947672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Pilot — 3 scenarios + wayfinding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2971800"/>
            <a:ext cx="1947672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⏱  4–6 wks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62072" y="3246120"/>
            <a:ext cx="1947672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62072" y="3246120"/>
            <a:ext cx="1947672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86BC25"/>
                </a:solidFill>
                <a:latin typeface="Calibri"/>
              </a:rPr>
              <a:t>$150–250K · BVA + DCIF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3703320"/>
            <a:ext cx="1947672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1 sub-domain of VVs live · LEDGER + replay proven on client data</a:t>
            </a:r>
          </a:p>
        </p:txBody>
      </p:sp>
      <p:sp>
        <p:nvSpPr>
          <p:cNvPr id="27" name="Oval 26"/>
          <p:cNvSpPr/>
          <p:nvPr/>
        </p:nvSpPr>
        <p:spPr>
          <a:xfrm>
            <a:off x="5907024" y="1737360"/>
            <a:ext cx="457200" cy="45720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86BC25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8344" y="2286000"/>
            <a:ext cx="222199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38344" y="2286000"/>
            <a:ext cx="2221992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9784" y="2313432"/>
            <a:ext cx="203911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Pack Standard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5504" y="2651760"/>
            <a:ext cx="1947672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First production rollout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4" y="2971800"/>
            <a:ext cx="1947672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⏱  12–16 wks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75504" y="3246120"/>
            <a:ext cx="1947672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5504" y="3246120"/>
            <a:ext cx="1947672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86BC25"/>
                </a:solidFill>
                <a:latin typeface="Calibri"/>
              </a:rPr>
              <a:t>$500K–1.5M · DCIF + ISV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5504" y="3703320"/>
            <a:ext cx="1947672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All 6 agents wired · Operate-readiness assessment · production cycle</a:t>
            </a:r>
          </a:p>
        </p:txBody>
      </p:sp>
      <p:sp>
        <p:nvSpPr>
          <p:cNvPr id="36" name="Oval 35"/>
          <p:cNvSpPr/>
          <p:nvPr/>
        </p:nvSpPr>
        <p:spPr>
          <a:xfrm>
            <a:off x="8220456" y="1737360"/>
            <a:ext cx="457200" cy="45720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86BC25"/>
                </a:solidFill>
                <a:latin typeface="Calibri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51776" y="2286000"/>
            <a:ext cx="222199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51776" y="2286000"/>
            <a:ext cx="2221992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2313432"/>
            <a:ext cx="203911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Pack Enterprise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88936" y="2651760"/>
            <a:ext cx="1947672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Full chain + Operate-ready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88936" y="2971800"/>
            <a:ext cx="1947672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⏱  6–9 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88936" y="3246120"/>
            <a:ext cx="1947672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88936" y="3246120"/>
            <a:ext cx="1947672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86BC25"/>
                </a:solidFill>
                <a:latin typeface="Calibri"/>
              </a:rPr>
              <a:t>$1.5–3.5M · Client direct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88936" y="3703320"/>
            <a:ext cx="1947672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Complete VV catalog · all scenarios · DataOps embedded</a:t>
            </a:r>
          </a:p>
        </p:txBody>
      </p:sp>
      <p:sp>
        <p:nvSpPr>
          <p:cNvPr id="45" name="Oval 44"/>
          <p:cNvSpPr/>
          <p:nvPr/>
        </p:nvSpPr>
        <p:spPr>
          <a:xfrm>
            <a:off x="10533888" y="1737360"/>
            <a:ext cx="457200" cy="45720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86BC25"/>
                </a:solidFill>
                <a:latin typeface="Calibri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65208" y="2286000"/>
            <a:ext cx="222199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65208" y="2286000"/>
            <a:ext cx="2221992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6648" y="2313432"/>
            <a:ext cx="2039112" cy="2560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02368" y="2651760"/>
            <a:ext cx="1947672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Run-rate managed service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2368" y="2971800"/>
            <a:ext cx="1947672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⏱  Continuous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02368" y="3246120"/>
            <a:ext cx="1947672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02368" y="3246120"/>
            <a:ext cx="1947672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 i="0">
                <a:solidFill>
                  <a:srgbClr val="86BC25"/>
                </a:solidFill>
                <a:latin typeface="Calibri"/>
              </a:rPr>
              <a:t>$/mo · Client direct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2368" y="3703320"/>
            <a:ext cx="1947672" cy="1645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24×7 monitoring · threshold tuning · Pack version uptake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ADDITIVE BY DESIGN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Lite → Standard → Enterprise → Operate. No client ever pays to redo earlier work. The ladder IS the natural progression.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Lite as wedge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BVA earns the Lite engagement.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Standard as proof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First production cycle on client data.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Enterprise as run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All views, all scenarios, ready for Operate.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 rework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Each tier extends, never replaces, prior.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Client Questions You Will Hear  —  Answers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Memorize these for the first 10 minutes of every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Pattern: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These six questions cover ~90% of the opening objections. Answer crisp, then redirect to the demo URL.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11384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37944"/>
            <a:ext cx="51206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Q   Is this Microsoft's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837944"/>
            <a:ext cx="58978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   No — APEX is Deloitte's delivery framework. We use Foundry as the underlying runtime, but the engagement layer on top is Deloitte 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77440"/>
            <a:ext cx="11384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51206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Q   Can we buy APEX?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32304"/>
            <a:ext cx="58978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   You engage Deloitte for an APEX-based delivery. We scope an Industry Pack at the right sub-tier (Lite / Standard / Enterprise) and sign an SOW. The framework itself isn't licensed.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71800"/>
            <a:ext cx="11384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26664"/>
            <a:ext cx="51206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Q   How is this different from what I'd build on Foundry?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026664"/>
            <a:ext cx="58978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   Foundry ships the agent runtime. We ship the engagement layer: 10-asset Industry Packs, WORM LEDGER, reasoning-trace + replay, persona/HITL plumbing, three cloud profiles. 12,649 lines of vetted Deloitte 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66160"/>
            <a:ext cx="11384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21024"/>
            <a:ext cx="51206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Q   What if we're on AWS / Google?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621024"/>
            <a:ext cx="58978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   Same Packs, same Core, different profile. APEX-G uses Vertex; APEX-A uses Bedrock. Replatforming a Pack is a config change — manifests, agent code, LEDGER schema all unchanged.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60520"/>
            <a:ext cx="11384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15384"/>
            <a:ext cx="51206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Q   How fast can we see something working?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215384"/>
            <a:ext cx="58978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   BVA workshop in week one. Pack Lite live in 4–6 weeks with one sub-domain of Virtual Views on your data. The demo runs that exact path.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754880"/>
            <a:ext cx="11384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09744"/>
            <a:ext cx="512064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Q   What does the audit story actually look like?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809744"/>
            <a:ext cx="589788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   Every decision an agent makes lands a 14-field hash-chained LedgerRow. Every step has a reasoning-trace. Any decision can be replayed against the original Bronze snapshot — byte-identical. No cloud vendor ships this.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WHEN STUCK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If you can't answer in 30 seconds, redirect: “Let me show you in the live demo — it's faster.”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Lead with 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Show the wayfinding card. Concrete &gt; abstract.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Then show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Click Details ⓘ + APEX panel — proves it's real.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Then talk price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BVA is free for the client. Pack Lite starts $150K.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Close on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Pack Lite in 4–6 wks · Standard in 12–16 wks.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to Do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1430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Three concrete next steps for every DMTSP seller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Call to action: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78992"/>
            <a:ext cx="1024128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The demo is live and ready for client conversations. The BVA template is in docs/packs/. The Pack Lite SOW skeleton ships with each Pack.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11384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960120" cy="1051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960120" cy="10515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65959"/>
            <a:ext cx="76809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Open the live demo with one client this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31719"/>
            <a:ext cx="768096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 the architecture URL above. Walk the 8-step path on slide 9.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148839"/>
            <a:ext cx="2331720" cy="5029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148839"/>
            <a:ext cx="233172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60 minutes · low effort · one meeting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17519"/>
            <a:ext cx="11384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017519"/>
            <a:ext cx="960120" cy="1051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17519"/>
            <a:ext cx="960120" cy="10515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108959"/>
            <a:ext cx="76809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Stand up a BVA 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74719"/>
            <a:ext cx="768096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Pick the Pack (CFMP for retail customer-side, Manufacturing for OEE, Risk for SOX, etc.) and book 4 hours. BVA is client-funded.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291839"/>
            <a:ext cx="2331720" cy="5029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291839"/>
            <a:ext cx="233172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Week 1–2 · zero Deloitte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60519"/>
            <a:ext cx="113842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160519"/>
            <a:ext cx="960120" cy="10515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160519"/>
            <a:ext cx="960120" cy="10515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2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251959"/>
            <a:ext cx="76809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Convert into a Pack Lite SOW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617719"/>
            <a:ext cx="7680960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BVA → scenario shortlist → 1 demo VV on client data → Pack Lite ($150K-$250K · 4–6 wks · BVA + DCIF). That's the wedge.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4434839"/>
            <a:ext cx="2331720" cy="5029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434839"/>
            <a:ext cx="233172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Week 3–4 · DCIF approval · SOW signed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44068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532120"/>
            <a:ext cx="329184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DEMO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769864"/>
            <a:ext cx="3291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ca-visionkit-portal.gentlestone-9b49b099.eastus2.azurecontainerapps.io/architecture — the architecture overview · root URL for the customer-facing demo.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Open the demo in front of one teammate · 30 min.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1032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1032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1032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Pick a client + a Pack · email + book the BVA · 4 hr.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9288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Run the BVA · capture scenario shortlist.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532120"/>
            <a:ext cx="1947672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751576"/>
            <a:ext cx="1947672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Week 3–4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007608"/>
            <a:ext cx="1947672" cy="5486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Pack Lite SOW under DCIF · sign · kick off pilot.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601968"/>
            <a:ext cx="73152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Internal  •  Deloitte Microsoft Technology &amp; Services Practice  •  DMTSP walkthrough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601968"/>
            <a:ext cx="18288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850" b="1" i="0">
                <a:solidFill>
                  <a:srgbClr val="86BC2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
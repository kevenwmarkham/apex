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692640" y="457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1031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DMTSP  ·  v4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058400" cy="10972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800" b="1" i="0">
                <a:solidFill>
                  <a:srgbClr val="FFFFFF"/>
                </a:solidFill>
                <a:latin typeface="Calibri"/>
              </a:rPr>
              <a:t>APEX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06240"/>
            <a:ext cx="54864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0584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Deloitte's agentic-AI delivery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100584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  <a:latin typeface="Calibri"/>
              </a:rPr>
              <a:t>Walkthrough for DMTSP  ·  what it is  ·  how to demo  ·  how to make it real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760720"/>
            <a:ext cx="9326880" cy="5029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932688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86BC25"/>
                </a:solidFill>
                <a:latin typeface="Calibri"/>
              </a:rPr>
              <a:t>ca-visionkit-portal.gentlestone-9b49b099.eastus2.azurecontainerapps.io/architecture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APEX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The engagement layer cloud vendors don't 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57200" cy="8229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0" b="1" i="0">
                <a:solidFill>
                  <a:srgbClr val="86BC25"/>
                </a:solidFill>
                <a:latin typeface="Calibri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6217920" cy="20116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4200" b="1" i="0">
                <a:solidFill>
                  <a:srgbClr val="1A1F2E"/>
                </a:solidFill>
                <a:latin typeface="Calibri"/>
              </a:rPr>
              <a:t>The engagement layer</a:t>
            </a:r>
          </a:p>
          <a:p>
            <a:pPr algn="l"/>
            <a:r>
              <a:rPr sz="4200" b="1" i="0">
                <a:solidFill>
                  <a:srgbClr val="1A1F2E"/>
                </a:solidFill>
                <a:latin typeface="Calibri"/>
              </a:rPr>
              <a:t>cloud vendors</a:t>
            </a:r>
          </a:p>
          <a:p>
            <a:pPr algn="l"/>
            <a:r>
              <a:rPr sz="4200" b="1" i="0">
                <a:solidFill>
                  <a:srgbClr val="1A1F2E"/>
                </a:solidFill>
                <a:latin typeface="Calibri"/>
              </a:rPr>
              <a:t>don't 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737360"/>
            <a:ext cx="4754880" cy="777240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737360"/>
            <a:ext cx="475488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Client outcome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180576" y="2560320"/>
            <a:ext cx="475488" cy="411480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0" y="3017520"/>
            <a:ext cx="4754880" cy="1371600"/>
          </a:xfrm>
          <a:prstGeom prst="roundRect">
            <a:avLst>
              <a:gd name="adj" fmla="val 15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3017520"/>
            <a:ext cx="475488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APEX  —  Deloitte's engagement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429000"/>
            <a:ext cx="4754880" cy="9144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Industry Packs  ·  Virtual Views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WORM LEDGER  ·  Service Envelopes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10-asset bundle structure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180576" y="4526280"/>
            <a:ext cx="475488" cy="411480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40880" y="4983480"/>
            <a:ext cx="4754880" cy="777240"/>
          </a:xfrm>
          <a:prstGeom prst="roundRect">
            <a:avLst>
              <a:gd name="adj" fmla="val 1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4983480"/>
            <a:ext cx="475488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Foundry  ·  Vertex  ·  Bedrock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5806440"/>
            <a:ext cx="475488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(cloud-vendor agent runtimes)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Without APEX  ·  With APEX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Same Foundry runtime. Different deal shape.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577840" cy="4617720"/>
          </a:xfrm>
          <a:prstGeom prst="roundRect">
            <a:avLst>
              <a:gd name="adj" fmla="val 4000"/>
            </a:avLst>
          </a:prstGeom>
          <a:solidFill>
            <a:srgbClr val="FDF4F4"/>
          </a:solidFill>
          <a:ln w="6350">
            <a:solidFill>
              <a:srgbClr val="A0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577840" cy="548640"/>
          </a:xfrm>
          <a:prstGeom prst="rect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57784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WITHOUT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60320"/>
            <a:ext cx="146304" cy="146304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9377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Staff augmentation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49377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Project competes with what client could build alone.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20440"/>
            <a:ext cx="146304" cy="146304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49377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Bespoke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40"/>
            <a:ext cx="49377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Every engagement re-invents the data model + SOW.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80560"/>
            <a:ext cx="146304" cy="146304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49377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Margin compression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49377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Deal shape resembles labor sales.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440680"/>
            <a:ext cx="146304" cy="146304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49377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Fragile audit 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669280"/>
            <a:ext cx="49377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No replay; trust is conversational, not cryptographic.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691640"/>
            <a:ext cx="5486400" cy="4617720"/>
          </a:xfrm>
          <a:prstGeom prst="roundRect">
            <a:avLst>
              <a:gd name="adj" fmla="val 4000"/>
            </a:avLst>
          </a:prstGeom>
          <a:solidFill>
            <a:srgbClr val="F1F8E9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691640"/>
            <a:ext cx="5486400" cy="5486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691640"/>
            <a:ext cx="548640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WITH APEX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256032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423160"/>
            <a:ext cx="4846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Fixed-fee Packs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788920"/>
            <a:ext cx="48463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Industry Solution Pack scoped at sub-tier.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352044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383280"/>
            <a:ext cx="4846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Canonical scenarios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749040"/>
            <a:ext cx="48463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10-asset bundle ships pre-built playbooks.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448056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343400"/>
            <a:ext cx="4846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WORM LEDGER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709160"/>
            <a:ext cx="48463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14-field hash-chained audit row per decision.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544068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5303520"/>
            <a:ext cx="4846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Replatform = config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5669280"/>
            <a:ext cx="48463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Same Pack on APEX-M / G / 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Five pieces. Every engagement.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Core  ·  Profiles  ·  Packs  ·  Envelopes  ·  LEDGER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219456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" y="2103120"/>
            <a:ext cx="877824" cy="1097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25880" y="2212848"/>
            <a:ext cx="548640" cy="877824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6424" y="3090672"/>
            <a:ext cx="987552" cy="1097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219456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49039"/>
            <a:ext cx="21945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1A1F2E"/>
                </a:solidFill>
                <a:latin typeface="Calibri"/>
              </a:rPr>
              <a:t>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43400"/>
            <a:ext cx="2194560" cy="1371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Cloud-neutral 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73736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1737360"/>
            <a:ext cx="219456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38144" y="2542032"/>
            <a:ext cx="438912" cy="603504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57600" y="2322576"/>
            <a:ext cx="548640" cy="71323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31920" y="2542032"/>
            <a:ext cx="493776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2958998"/>
            <a:ext cx="1097280" cy="241401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3383280"/>
            <a:ext cx="219456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749039"/>
            <a:ext cx="21945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1A1F2E"/>
                </a:solidFill>
                <a:latin typeface="Calibri"/>
              </a:rPr>
              <a:t>PROFILES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343400"/>
            <a:ext cx="2194560" cy="1371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M  /  G  /  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6360" y="173736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60" y="1737360"/>
            <a:ext cx="219456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24728" y="2706624"/>
            <a:ext cx="603504" cy="460857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44184" y="2377440"/>
            <a:ext cx="603504" cy="351129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9864" y="2157984"/>
            <a:ext cx="548640" cy="241401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383280"/>
            <a:ext cx="219456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749039"/>
            <a:ext cx="21945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1A1F2E"/>
                </a:solidFill>
                <a:latin typeface="Calibri"/>
              </a:rPr>
              <a:t>PACKS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343400"/>
            <a:ext cx="2194560" cy="1371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7 in the catalog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173736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79" y="1737360"/>
            <a:ext cx="219456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1583" y="2322576"/>
            <a:ext cx="987552" cy="65836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8101583" y="2300630"/>
            <a:ext cx="987552" cy="438912"/>
          </a:xfrm>
          <a:prstGeom prst="triangl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3383280"/>
            <a:ext cx="219456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3749039"/>
            <a:ext cx="21945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1A1F2E"/>
                </a:solidFill>
                <a:latin typeface="Calibri"/>
              </a:rPr>
              <a:t>ENVELOPES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343400"/>
            <a:ext cx="2194560" cy="1371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5 sellable tiers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29800" y="173736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29800" y="1737360"/>
            <a:ext cx="219456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33304" y="2432304"/>
            <a:ext cx="438912" cy="438912"/>
          </a:xfrm>
          <a:prstGeom prst="ellipse">
            <a:avLst/>
          </a:prstGeom>
          <a:solidFill>
            <a:srgbClr val="FAFAFA"/>
          </a:solidFill>
          <a:ln w="9525">
            <a:solidFill>
              <a:srgbClr val="5A8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07624" y="2432304"/>
            <a:ext cx="438912" cy="438912"/>
          </a:xfrm>
          <a:prstGeom prst="ellipse">
            <a:avLst/>
          </a:prstGeom>
          <a:solidFill>
            <a:srgbClr val="FAFAFA"/>
          </a:solidFill>
          <a:ln w="9525">
            <a:solidFill>
              <a:srgbClr val="5A8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981944" y="2432304"/>
            <a:ext cx="438912" cy="438912"/>
          </a:xfrm>
          <a:prstGeom prst="ellipse">
            <a:avLst/>
          </a:prstGeom>
          <a:solidFill>
            <a:srgbClr val="FAFAFA"/>
          </a:solidFill>
          <a:ln w="9525">
            <a:solidFill>
              <a:srgbClr val="5A8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9800" y="3383280"/>
            <a:ext cx="219456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86BC25"/>
                </a:solidFill>
                <a:latin typeface="Calibri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3749039"/>
            <a:ext cx="219456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1A1F2E"/>
                </a:solidFill>
                <a:latin typeface="Calibri"/>
              </a:rPr>
              <a:t>LEDGER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4343400"/>
            <a:ext cx="2194560" cy="1371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WORM hash chain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Same core. Different cloud.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Three implementations of one 14-interface contract.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65760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65760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APEX-M</a:t>
            </a:r>
          </a:p>
        </p:txBody>
      </p:sp>
      <p:sp>
        <p:nvSpPr>
          <p:cNvPr id="9" name="Oval 8"/>
          <p:cNvSpPr/>
          <p:nvPr/>
        </p:nvSpPr>
        <p:spPr>
          <a:xfrm>
            <a:off x="1467612" y="3017520"/>
            <a:ext cx="768096" cy="7543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51660" y="2743200"/>
            <a:ext cx="960120" cy="8915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1720" y="3017520"/>
            <a:ext cx="864108" cy="6858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3538728"/>
            <a:ext cx="1920240" cy="30175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069080"/>
            <a:ext cx="3657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MICROSOFT  /  AZURE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452628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526280"/>
            <a:ext cx="201168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320040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F2E"/>
                </a:solidFill>
                <a:latin typeface="Calibri"/>
              </a:rPr>
              <a:t>·  Foundry + Azure 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59"/>
            <a:ext cx="320040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F2E"/>
                </a:solidFill>
                <a:latin typeface="Calibri"/>
              </a:rPr>
              <a:t>·  OneLake + Fabric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15000"/>
            <a:ext cx="320040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F2E"/>
                </a:solidFill>
                <a:latin typeface="Calibri"/>
              </a:rPr>
              <a:t>·  Entra · Purview · Maps Creator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7373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1737360"/>
            <a:ext cx="3657600" cy="4572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737360"/>
            <a:ext cx="365760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APEX-G</a:t>
            </a:r>
          </a:p>
        </p:txBody>
      </p:sp>
      <p:sp>
        <p:nvSpPr>
          <p:cNvPr id="22" name="Oval 21"/>
          <p:cNvSpPr/>
          <p:nvPr/>
        </p:nvSpPr>
        <p:spPr>
          <a:xfrm>
            <a:off x="5308092" y="3017520"/>
            <a:ext cx="768096" cy="75438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92140" y="2743200"/>
            <a:ext cx="960120" cy="89154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72200" y="3017520"/>
            <a:ext cx="864108" cy="685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12080" y="3538728"/>
            <a:ext cx="1920240" cy="30175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069080"/>
            <a:ext cx="3657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GOOGLE  /  GCP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60" y="452628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4526280"/>
            <a:ext cx="201168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BETA Q3 FY27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074920"/>
            <a:ext cx="320040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F2E"/>
                </a:solidFill>
                <a:latin typeface="Calibri"/>
              </a:rPr>
              <a:t>·  Vertex AI + Gemini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94959"/>
            <a:ext cx="320040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F2E"/>
                </a:solidFill>
                <a:latin typeface="Calibri"/>
              </a:rPr>
              <a:t>·  BigQuery + BigLake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715000"/>
            <a:ext cx="320040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F2E"/>
                </a:solidFill>
                <a:latin typeface="Calibri"/>
              </a:rPr>
              <a:t>·  Cloud Identity · Dataplex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17373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80" y="1737360"/>
            <a:ext cx="365760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80" y="1737360"/>
            <a:ext cx="365760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APEX-A</a:t>
            </a:r>
          </a:p>
        </p:txBody>
      </p:sp>
      <p:sp>
        <p:nvSpPr>
          <p:cNvPr id="35" name="Oval 34"/>
          <p:cNvSpPr/>
          <p:nvPr/>
        </p:nvSpPr>
        <p:spPr>
          <a:xfrm>
            <a:off x="9148572" y="3017520"/>
            <a:ext cx="768096" cy="75438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32620" y="2743200"/>
            <a:ext cx="960120" cy="8915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12680" y="3017520"/>
            <a:ext cx="864108" cy="6858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60" y="3538728"/>
            <a:ext cx="1920240" cy="30175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4069080"/>
            <a:ext cx="3657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AMAZON  /  AWS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06840" y="452628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06840" y="4526280"/>
            <a:ext cx="201168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BETA Q4 FY27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074920"/>
            <a:ext cx="320040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F2E"/>
                </a:solidFill>
                <a:latin typeface="Calibri"/>
              </a:rPr>
              <a:t>·  Bedrock (Claude / Nova)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394959"/>
            <a:ext cx="320040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F2E"/>
                </a:solidFill>
                <a:latin typeface="Calibri"/>
              </a:rPr>
              <a:t>·  S3 + Lake Formation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715000"/>
            <a:ext cx="320040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F2E"/>
                </a:solidFill>
                <a:latin typeface="Calibri"/>
              </a:rPr>
              <a:t>·  IAM IC · Location Service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Seven Industry Packs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Same 10-asset bundle. Different industry per Pack.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9164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2244852"/>
            <a:ext cx="768096" cy="4526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" y="2121408"/>
            <a:ext cx="243230" cy="16459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6464" y="2121408"/>
            <a:ext cx="243230" cy="16459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2121408"/>
            <a:ext cx="243230" cy="16459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5646" y="1915668"/>
            <a:ext cx="92171" cy="24688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1879" y="1874520"/>
            <a:ext cx="153619" cy="16459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770632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 i="0">
                <a:solidFill>
                  <a:srgbClr val="1A1F2E"/>
                </a:solidFill>
                <a:latin typeface="Calibri"/>
              </a:rPr>
              <a:t>Manufacturing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172968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Plant / 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59" y="169164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43328" y="1874520"/>
            <a:ext cx="153619" cy="329184"/>
          </a:xfrm>
          <a:prstGeom prst="ellips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43328" y="1915668"/>
            <a:ext cx="153619" cy="288036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290" y="1874520"/>
            <a:ext cx="153619" cy="329184"/>
          </a:xfrm>
          <a:prstGeom prst="ellips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1290" y="1915668"/>
            <a:ext cx="153619" cy="288036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43475" y="2121408"/>
            <a:ext cx="691286" cy="576072"/>
          </a:xfrm>
          <a:prstGeom prst="roundRect">
            <a:avLst>
              <a:gd name="adj" fmla="val 15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59" y="2770632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 i="0">
                <a:solidFill>
                  <a:srgbClr val="1A1F2E"/>
                </a:solidFill>
                <a:latin typeface="Calibri"/>
              </a:rPr>
              <a:t>Retail Merch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59" y="3172968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Chief Merchant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599" y="169164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16520" y="2417673"/>
            <a:ext cx="168981" cy="279806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46949" y="2207818"/>
            <a:ext cx="168981" cy="489661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77378" y="1997964"/>
            <a:ext cx="168981" cy="699516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9" y="2770632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 i="0">
                <a:solidFill>
                  <a:srgbClr val="1A1F2E"/>
                </a:solidFill>
                <a:latin typeface="Calibri"/>
              </a:rP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9" y="3172968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Controller · CFO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39" y="169164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51160" y="1874520"/>
            <a:ext cx="614476" cy="4526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51160" y="2039112"/>
            <a:ext cx="614476" cy="65836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81589" y="2121408"/>
            <a:ext cx="153619" cy="164592"/>
          </a:xfrm>
          <a:prstGeom prst="roundRect">
            <a:avLst>
              <a:gd name="adj" fmla="val 30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39" y="2770632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 i="0">
                <a:solidFill>
                  <a:srgbClr val="1A1F2E"/>
                </a:solidFill>
                <a:latin typeface="Calibri"/>
              </a:rPr>
              <a:t>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39" y="3172968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SOX PMO · CRO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79676" y="402336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52597" y="4247388"/>
            <a:ext cx="614476" cy="65836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044769" y="4346143"/>
            <a:ext cx="430133" cy="543153"/>
          </a:xfrm>
          <a:prstGeom prst="ellips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75788" y="4658868"/>
            <a:ext cx="768096" cy="4114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14192" y="4576572"/>
            <a:ext cx="153619" cy="24688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451860" y="4576572"/>
            <a:ext cx="153619" cy="24688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298240" y="4798771"/>
            <a:ext cx="76809" cy="123444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79676" y="5102352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 i="0">
                <a:solidFill>
                  <a:srgbClr val="1A1F2E"/>
                </a:solidFill>
                <a:latin typeface="Calibri"/>
              </a:rPr>
              <a:t>Customer Experience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79676" y="5504688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Care Ops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14315" y="402336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825641" y="4247388"/>
            <a:ext cx="537667" cy="699516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63751" y="4864608"/>
            <a:ext cx="61447" cy="164592"/>
          </a:xfrm>
          <a:prstGeom prst="rect">
            <a:avLst/>
          </a:prstGeom>
          <a:solidFill>
            <a:srgbClr val="5A8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14315" y="5102352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 i="0">
                <a:solidFill>
                  <a:srgbClr val="1A1F2E"/>
                </a:solidFill>
                <a:latin typeface="Calibri"/>
              </a:rPr>
              <a:t>ESG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14315" y="5504688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Sustainability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48955" y="402336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86315" y="4023360"/>
            <a:ext cx="822960" cy="2926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86315" y="4023360"/>
            <a:ext cx="82296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★ LIVE</a:t>
            </a:r>
          </a:p>
        </p:txBody>
      </p:sp>
      <p:sp>
        <p:nvSpPr>
          <p:cNvPr id="52" name="Oval 51"/>
          <p:cNvSpPr/>
          <p:nvPr/>
        </p:nvSpPr>
        <p:spPr>
          <a:xfrm>
            <a:off x="8660281" y="4206240"/>
            <a:ext cx="537667" cy="534924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821581" y="4354372"/>
            <a:ext cx="215066" cy="230428"/>
          </a:xfrm>
          <a:prstGeom prst="ellips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67667" y="4658868"/>
            <a:ext cx="122895" cy="37033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48955" y="5102352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00" b="1" i="0">
                <a:solidFill>
                  <a:srgbClr val="1A1F2E"/>
                </a:solidFill>
                <a:latin typeface="Calibri"/>
              </a:rPr>
              <a:t>CFMP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48955" y="5504688"/>
            <a:ext cx="25603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CMO · CX-VP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Same engineering structure. Every Pack.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Ten slots. Identical contract. New Packs land predictably.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2194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947672"/>
            <a:ext cx="594360" cy="5943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47672"/>
            <a:ext cx="594360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1234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VV manifests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123444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Federated 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017520"/>
            <a:ext cx="1828800" cy="45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1783080"/>
            <a:ext cx="2194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71800" y="1947672"/>
            <a:ext cx="594360" cy="5943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947672"/>
            <a:ext cx="594360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11680"/>
            <a:ext cx="1234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77440"/>
            <a:ext cx="123444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End-to-end outcomes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3017520"/>
            <a:ext cx="1828800" cy="45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4920" y="1783080"/>
            <a:ext cx="2194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57800" y="1947672"/>
            <a:ext cx="594360" cy="5943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1947672"/>
            <a:ext cx="594360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011680"/>
            <a:ext cx="1234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Source adapters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377440"/>
            <a:ext cx="123444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System connectors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3017520"/>
            <a:ext cx="1828800" cy="45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1783080"/>
            <a:ext cx="2194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43800" y="1947672"/>
            <a:ext cx="594360" cy="5943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1947672"/>
            <a:ext cx="594360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011680"/>
            <a:ext cx="1234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Adaptive cards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377440"/>
            <a:ext cx="123444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HITL surfaces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3017520"/>
            <a:ext cx="1828800" cy="45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46920" y="1783080"/>
            <a:ext cx="2194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29800" y="1947672"/>
            <a:ext cx="594360" cy="5943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1947672"/>
            <a:ext cx="594360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2011680"/>
            <a:ext cx="1234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Persona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2377440"/>
            <a:ext cx="123444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Role bindings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3017520"/>
            <a:ext cx="1828800" cy="45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3794760"/>
            <a:ext cx="2194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3959352"/>
            <a:ext cx="594360" cy="5943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959352"/>
            <a:ext cx="594360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023360"/>
            <a:ext cx="1234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Demo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389120"/>
            <a:ext cx="123444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Laptop-runnable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029200"/>
            <a:ext cx="1828800" cy="45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88920" y="3794760"/>
            <a:ext cx="2194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71800" y="3959352"/>
            <a:ext cx="594360" cy="5943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71800" y="3959352"/>
            <a:ext cx="594360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023360"/>
            <a:ext cx="1234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BVA worksheet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389120"/>
            <a:ext cx="123444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ROI calculator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71800" y="5029200"/>
            <a:ext cx="1828800" cy="45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74920" y="3794760"/>
            <a:ext cx="2194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257800" y="3959352"/>
            <a:ext cx="594360" cy="5943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57800" y="3959352"/>
            <a:ext cx="594360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023360"/>
            <a:ext cx="1234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Sample SOW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4389120"/>
            <a:ext cx="123444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Tier templates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57800" y="5029200"/>
            <a:ext cx="1828800" cy="45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360920" y="3794760"/>
            <a:ext cx="2194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43800" y="3959352"/>
            <a:ext cx="594360" cy="5943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3959352"/>
            <a:ext cx="594360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023360"/>
            <a:ext cx="1234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Acceptance tests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4389120"/>
            <a:ext cx="123444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CI-green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43800" y="5029200"/>
            <a:ext cx="1828800" cy="45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646920" y="3794760"/>
            <a:ext cx="21945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829800" y="3959352"/>
            <a:ext cx="594360" cy="5943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29800" y="3959352"/>
            <a:ext cx="594360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4023360"/>
            <a:ext cx="1234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Runbook + training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4389120"/>
            <a:ext cx="123444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Operate-ready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29800" y="5029200"/>
            <a:ext cx="1828800" cy="45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108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31089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31089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02920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Spotlight: CFMP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0" i="0">
                <a:solidFill>
                  <a:srgbClr val="BFDBFE"/>
                </a:solidFill>
                <a:latin typeface="Calibri"/>
              </a:rPr>
              <a:t>Customer Focused Merchandise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0292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CBD5E1"/>
                </a:solidFill>
                <a:latin typeface="Calibri"/>
              </a:rPr>
              <a:t>v0.2  ·  Phase 1 LIVE  ·  the live worked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2560320" cy="41148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56032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Pack Lite · $150–250K · 4–6 wks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08960"/>
            <a:ext cx="12191695" cy="374903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1124712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1A1F2E"/>
                </a:solidFill>
                <a:latin typeface="Calibri"/>
              </a:rPr>
              <a:t>The customer-journey spine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1124712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Calibri"/>
              </a:rPr>
              <a:t>Four moments. Four phases. Eighteen scenarios mapped.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7200" y="4297680"/>
            <a:ext cx="2743200" cy="146304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434840"/>
            <a:ext cx="237744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CHOOSE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80"/>
            <a:ext cx="237744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What should I buy?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91840" y="4297680"/>
            <a:ext cx="2743200" cy="1463040"/>
          </a:xfrm>
          <a:prstGeom prst="rightArrow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4434840"/>
            <a:ext cx="237744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983480"/>
            <a:ext cx="237744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Where is it?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126480" y="4297680"/>
            <a:ext cx="2743200" cy="146304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434840"/>
            <a:ext cx="237744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983480"/>
            <a:ext cx="237744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How do I pay?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4297680"/>
            <a:ext cx="2743200" cy="1463040"/>
          </a:xfrm>
          <a:prstGeom prst="roundRect">
            <a:avLst>
              <a:gd name="adj" fmla="val 12000"/>
            </a:avLst>
          </a:prstGeom>
          <a:solidFill>
            <a:srgbClr val="B44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4434840"/>
            <a:ext cx="237744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983480"/>
            <a:ext cx="237744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What's next?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  <a:latin typeface="Calibri"/>
              </a:rPr>
              <a:t>18 scenarios  ·  6 new Virtual Views  ·  proposed Interface #15 (Maps &amp; Wayfinding)  ·  new `customer` persona type  ·  $50 cart consent gate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0"/>
            <a:ext cx="12191695" cy="3291840"/>
          </a:xfrm>
          <a:prstGeom prst="rect">
            <a:avLst/>
          </a:prstGeom>
          <a:solidFill>
            <a:srgbClr val="0E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82880" cy="32918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43000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Open the demo. Talk through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1143000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0" i="1">
                <a:solidFill>
                  <a:srgbClr val="CBD5E1"/>
                </a:solidFill>
                <a:latin typeface="Calibri"/>
              </a:rPr>
              <a:t>Eight surfaces  ·  ten minutes  ·  let the agent answer for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20440"/>
            <a:ext cx="11274552" cy="868680"/>
          </a:xfrm>
          <a:prstGeom prst="roundRect">
            <a:avLst>
              <a:gd name="adj" fmla="val 5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4552" cy="8686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ca-visionkit-portal.gentlestone-9b49b099.eastus2.azurecontainerapps.io/architecture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86400"/>
            <a:ext cx="137160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137160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0E1423"/>
                </a:solidFill>
                <a:latin typeface="Calibri"/>
              </a:rPr>
              <a:t>1  Demo 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5486400"/>
            <a:ext cx="137160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5486400"/>
            <a:ext cx="137160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0E1423"/>
                </a:solidFill>
                <a:latin typeface="Calibri"/>
              </a:rPr>
              <a:t>2  “Where is X?”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5486400"/>
            <a:ext cx="137160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5486400"/>
            <a:ext cx="137160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0E1423"/>
                </a:solidFill>
                <a:latin typeface="Calibri"/>
              </a:rPr>
              <a:t>3  Dietary chip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5486400"/>
            <a:ext cx="137160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486400"/>
            <a:ext cx="137160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0E1423"/>
                </a:solidFill>
                <a:latin typeface="Calibri"/>
              </a:rPr>
              <a:t>4  Cart click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5486400"/>
            <a:ext cx="137160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5486400"/>
            <a:ext cx="137160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0E1423"/>
                </a:solidFill>
                <a:latin typeface="Calibri"/>
              </a:rPr>
              <a:t>5  /architecture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5486400"/>
            <a:ext cx="137160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5486400"/>
            <a:ext cx="137160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0E1423"/>
                </a:solidFill>
                <a:latin typeface="Calibri"/>
              </a:rPr>
              <a:t>6  Details 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5486400"/>
            <a:ext cx="137160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5486400"/>
            <a:ext cx="137160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0E1423"/>
                </a:solidFill>
                <a:latin typeface="Calibri"/>
              </a:rPr>
              <a:t>7  APEX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60" y="5486400"/>
            <a:ext cx="137160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0" y="5486400"/>
            <a:ext cx="137160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0E1423"/>
                </a:solidFill>
                <a:latin typeface="Calibri"/>
              </a:rPr>
              <a:t>8  Tour flyout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Engagement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Five tiers. Stackable. Each tier earns the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349240"/>
            <a:ext cx="2240280" cy="50292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5349240"/>
            <a:ext cx="91440" cy="5029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54864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86BC25"/>
                </a:solidFill>
                <a:latin typeface="Calibri"/>
              </a:rPr>
              <a:t>T1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5394960"/>
            <a:ext cx="13258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5166360"/>
            <a:ext cx="2240280" cy="6858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5166360"/>
            <a:ext cx="91440" cy="6858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5212080"/>
            <a:ext cx="54864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86BC25"/>
                </a:solidFill>
                <a:latin typeface="Calibri"/>
              </a:rPr>
              <a:t>T2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5212080"/>
            <a:ext cx="13258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623560"/>
            <a:ext cx="19659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BFDBFE"/>
                </a:solidFill>
                <a:latin typeface="Calibri"/>
              </a:rPr>
              <a:t>$100K–$3.5M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5879592"/>
            <a:ext cx="19659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1">
                <a:solidFill>
                  <a:srgbClr val="CBD5E1"/>
                </a:solidFill>
                <a:latin typeface="Calibri"/>
              </a:rPr>
              <a:t>4 wks – 9 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4983480"/>
            <a:ext cx="2240280" cy="86868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983480"/>
            <a:ext cx="91440" cy="8686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5029200"/>
            <a:ext cx="54864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86BC25"/>
                </a:solidFill>
                <a:latin typeface="Calibri"/>
              </a:rPr>
              <a:t>T3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5029200"/>
            <a:ext cx="13258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5440680"/>
            <a:ext cx="19659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BFDBFE"/>
                </a:solidFill>
                <a:latin typeface="Calibri"/>
              </a:rPr>
              <a:t>$150–400K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5696712"/>
            <a:ext cx="19659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1">
                <a:solidFill>
                  <a:srgbClr val="CBD5E1"/>
                </a:solidFill>
                <a:latin typeface="Calibri"/>
              </a:rPr>
              <a:t>4–8 wks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800600"/>
            <a:ext cx="2240280" cy="105156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4800600"/>
            <a:ext cx="91440" cy="10515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4846320"/>
            <a:ext cx="54864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86BC25"/>
                </a:solidFill>
                <a:latin typeface="Calibri"/>
              </a:rPr>
              <a:t>T4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846320"/>
            <a:ext cx="13258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CUSTOM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257800"/>
            <a:ext cx="19659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BFDBFE"/>
                </a:solidFill>
                <a:latin typeface="Calibri"/>
              </a:rPr>
              <a:t>T&amp;M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5513832"/>
            <a:ext cx="19659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1">
                <a:solidFill>
                  <a:srgbClr val="CBD5E1"/>
                </a:solidFill>
                <a:latin typeface="Calibri"/>
              </a:rPr>
              <a:t>Sprints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4617720"/>
            <a:ext cx="2240280" cy="123444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4617720"/>
            <a:ext cx="91440" cy="1234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4663440"/>
            <a:ext cx="54864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86BC25"/>
                </a:solidFill>
                <a:latin typeface="Calibri"/>
              </a:rPr>
              <a:t>T5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4663440"/>
            <a:ext cx="13258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074920"/>
            <a:ext cx="19659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BFDBFE"/>
                </a:solidFill>
                <a:latin typeface="Calibri"/>
              </a:rPr>
              <a:t>$/mo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330952"/>
            <a:ext cx="19659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1">
                <a:solidFill>
                  <a:srgbClr val="CBD5E1"/>
                </a:solidFill>
                <a:latin typeface="Calibri"/>
              </a:rPr>
              <a:t>Continuous</a:t>
            </a:r>
          </a:p>
        </p:txBody>
      </p:sp>
      <p:sp>
        <p:nvSpPr>
          <p:cNvPr id="34" name="Up Arrow 33"/>
          <p:cNvSpPr/>
          <p:nvPr/>
        </p:nvSpPr>
        <p:spPr>
          <a:xfrm>
            <a:off x="182880" y="1828800"/>
            <a:ext cx="365760" cy="3931920"/>
          </a:xfrm>
          <a:prstGeom prst="upArrow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0" y="1828800"/>
            <a:ext cx="64008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86BC25"/>
                </a:solidFill>
                <a:latin typeface="Calibri"/>
              </a:rPr>
              <a:t>GROW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178308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1920240"/>
            <a:ext cx="32918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standard wedge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331720"/>
            <a:ext cx="329184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Pack Lite  ·  T2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971800"/>
            <a:ext cx="329184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$150–250K  ·  4–6 weeks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520440"/>
            <a:ext cx="329184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1">
                <a:solidFill>
                  <a:srgbClr val="BFDBFE"/>
                </a:solidFill>
                <a:latin typeface="Calibri"/>
              </a:rPr>
              <a:t>BVA + DCIF funding · client-funded discovery → fixed-fee pilot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Independence  —  non-negotiable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Deloitte audits Microsoft. SEC rules shape funding paths.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2286000"/>
            <a:ext cx="2340864" cy="17602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926080"/>
            <a:ext cx="2340864" cy="256032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01952" y="3246120"/>
            <a:ext cx="585216" cy="640080"/>
          </a:xfrm>
          <a:prstGeom prst="roundRect">
            <a:avLst>
              <a:gd name="adj" fmla="val 30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26080" cy="18288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0" b="1" i="0">
                <a:solidFill>
                  <a:srgbClr val="86BC25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83080"/>
            <a:ext cx="36576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86BC25"/>
                </a:solidFill>
                <a:latin typeface="Calibri"/>
              </a:rPr>
              <a:t>✓  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331720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1F8E9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331720"/>
            <a:ext cx="3657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5A830F"/>
                </a:solidFill>
                <a:latin typeface="Calibri"/>
              </a:rPr>
              <a:t>BVA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926079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1F8E9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926079"/>
            <a:ext cx="3657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5A830F"/>
                </a:solidFill>
                <a:latin typeface="Calibri"/>
              </a:rPr>
              <a:t>DCIF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520439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1F8E9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520439"/>
            <a:ext cx="3657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5A830F"/>
                </a:solidFill>
                <a:latin typeface="Calibri"/>
              </a:rPr>
              <a:t>ISV Marketplace burndown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114800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1F8E9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4114800"/>
            <a:ext cx="3657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5A830F"/>
                </a:solidFill>
                <a:latin typeface="Calibri"/>
              </a:rPr>
              <a:t>SI Teaming POC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709160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1F8E9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4709160"/>
            <a:ext cx="3657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5A830F"/>
                </a:solidFill>
                <a:latin typeface="Calibri"/>
              </a:rPr>
              <a:t>T&amp;M  ·  Client direct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1783080"/>
            <a:ext cx="36576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A03535"/>
                </a:solidFill>
                <a:latin typeface="Calibri"/>
              </a:rPr>
              <a:t>✕  DO NOT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2331720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DF4F4"/>
          </a:solidFill>
          <a:ln w="6350">
            <a:solidFill>
              <a:srgbClr val="A0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331720"/>
            <a:ext cx="3657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A03535"/>
                </a:solidFill>
                <a:latin typeface="Calibri"/>
              </a:rPr>
              <a:t>Direct ECIF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926079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DF4F4"/>
          </a:solidFill>
          <a:ln w="6350">
            <a:solidFill>
              <a:srgbClr val="A0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2926079"/>
            <a:ext cx="3657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A03535"/>
                </a:solidFill>
                <a:latin typeface="Calibri"/>
              </a:rPr>
              <a:t>“Partnership”/“Alliance”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20439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DF4F4"/>
          </a:solidFill>
          <a:ln w="6350">
            <a:solidFill>
              <a:srgbClr val="A0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3520439"/>
            <a:ext cx="3657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A03535"/>
                </a:solidFill>
                <a:latin typeface="Calibri"/>
              </a:rPr>
              <a:t>Joint co-sell credit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4114800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DF4F4"/>
          </a:solidFill>
          <a:ln w="6350">
            <a:solidFill>
              <a:srgbClr val="A0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4114800"/>
            <a:ext cx="3657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A03535"/>
                </a:solidFill>
                <a:latin typeface="Calibri"/>
              </a:rPr>
              <a:t>Sell APEX itself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What we sell  ·  What we don't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The single most important framing. Repeat it every meeting.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5577840" cy="4389120"/>
          </a:xfrm>
          <a:prstGeom prst="roundRect">
            <a:avLst>
              <a:gd name="adj" fmla="val 5000"/>
            </a:avLst>
          </a:prstGeom>
          <a:solidFill>
            <a:srgbClr val="FDF4F4"/>
          </a:solidFill>
          <a:ln w="6350">
            <a:solidFill>
              <a:srgbClr val="A0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0" y="2103120"/>
            <a:ext cx="1005840" cy="1005840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103120"/>
            <a:ext cx="1005840" cy="10058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47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557784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A03535"/>
                </a:solidFill>
                <a:latin typeface="Calibri"/>
              </a:rPr>
              <a:t>NOT a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663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Not a SKU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663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Not a license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4663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Not a subscription a client can buy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40679"/>
            <a:ext cx="46634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Not Microsoft co-sell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1F8E9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3920" y="2103120"/>
            <a:ext cx="1005840" cy="100584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103120"/>
            <a:ext cx="1005840" cy="10058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5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337560"/>
            <a:ext cx="548640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5A830F"/>
                </a:solidFill>
                <a:latin typeface="Calibri"/>
              </a:rPr>
              <a:t>Deloitte delivery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06240"/>
            <a:ext cx="51206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We sell  agentic-AI delivery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617720"/>
            <a:ext cx="51206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Scoped per Pack  ·  per tier  ·  per SOW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029200"/>
            <a:ext cx="51206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Funded via the standard envelope mix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440679"/>
            <a:ext cx="51206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Framework is Deloitte IP. Always.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The wedge  —  BVA → Pack Lite → Standard → Enterprise → Operate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Each step earns the next. Nothing gets redone.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920" y="2743200"/>
            <a:ext cx="2240280" cy="1463040"/>
          </a:xfrm>
          <a:prstGeom prst="rightArrow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78308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178308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4 hrs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155448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86BC25"/>
                </a:solidFill>
                <a:latin typeface="Calibri"/>
              </a:rPr>
              <a:t>Free / client-funded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834640" y="2743200"/>
            <a:ext cx="2240280" cy="1463040"/>
          </a:xfrm>
          <a:prstGeom prst="rightArrow">
            <a:avLst/>
          </a:prstGeom>
          <a:solidFill>
            <a:srgbClr val="5A8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71800" y="2468880"/>
            <a:ext cx="457200" cy="45720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468880"/>
            <a:ext cx="45720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834640"/>
            <a:ext cx="178308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Pack 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83280"/>
            <a:ext cx="178308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4-6 wks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37490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3749040"/>
            <a:ext cx="155448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5A830F"/>
                </a:solidFill>
                <a:latin typeface="Calibri"/>
              </a:rPr>
              <a:t>$150-250K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166360" y="2743200"/>
            <a:ext cx="2240280" cy="1463040"/>
          </a:xfrm>
          <a:prstGeom prst="rightArrow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03520" y="2468880"/>
            <a:ext cx="457200" cy="45720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2468880"/>
            <a:ext cx="45720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834640"/>
            <a:ext cx="178308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383280"/>
            <a:ext cx="178308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12-16 wks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37490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749040"/>
            <a:ext cx="155448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1A1F2E"/>
                </a:solidFill>
                <a:latin typeface="Calibri"/>
              </a:rPr>
              <a:t>$500K-1.5M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498080" y="2743200"/>
            <a:ext cx="2240280" cy="1463040"/>
          </a:xfrm>
          <a:prstGeom prst="rightArrow">
            <a:avLst/>
          </a:prstGeom>
          <a:solidFill>
            <a:srgbClr val="1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35240" y="2468880"/>
            <a:ext cx="457200" cy="45720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2468880"/>
            <a:ext cx="45720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834640"/>
            <a:ext cx="178308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383280"/>
            <a:ext cx="178308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6-9 mo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80" y="37490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3749040"/>
            <a:ext cx="155448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141B4A"/>
                </a:solidFill>
                <a:latin typeface="Calibri"/>
              </a:rPr>
              <a:t>$1.5-3.5M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2743200"/>
            <a:ext cx="2240280" cy="1463040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66960" y="2468880"/>
            <a:ext cx="457200" cy="45720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2468880"/>
            <a:ext cx="45720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2834640"/>
            <a:ext cx="178308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Operate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383280"/>
            <a:ext cx="178308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Ongoing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37490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0" y="3749040"/>
            <a:ext cx="155448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475569"/>
                </a:solidFill>
                <a:latin typeface="Calibri"/>
              </a:rPr>
              <a:t>$/mo subscription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00" b="0" i="1">
                <a:solidFill>
                  <a:srgbClr val="475569"/>
                </a:solidFill>
                <a:latin typeface="Calibri"/>
              </a:rPr>
              <a:t>Additive by design  —  Standard contains Lite, Enterprise contains Standard. No client pays to redo earlier work.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The questions you'll 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Six openers cover ~90% of the first ten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103120"/>
            <a:ext cx="777240" cy="77724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77724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03120"/>
            <a:ext cx="406908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1A1F2E"/>
                </a:solidFill>
                <a:latin typeface="Calibri"/>
              </a:rPr>
              <a:t>Is this Microsoft's product?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03120"/>
            <a:ext cx="777240" cy="77724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77724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103120"/>
            <a:ext cx="406908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1A1F2E"/>
                </a:solidFill>
                <a:latin typeface="Calibri"/>
              </a:rPr>
              <a:t>Can we buy APEX?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3756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A1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611880"/>
            <a:ext cx="777240" cy="77724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11880"/>
            <a:ext cx="77724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611880"/>
            <a:ext cx="406908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1A1F2E"/>
                </a:solidFill>
                <a:latin typeface="Calibri"/>
              </a:rPr>
              <a:t>How is this different from Foundry?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3756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A1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611880"/>
            <a:ext cx="777240" cy="77724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611880"/>
            <a:ext cx="77724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611880"/>
            <a:ext cx="406908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1A1F2E"/>
                </a:solidFill>
                <a:latin typeface="Calibri"/>
              </a:rPr>
              <a:t>What if we're on AWS or Google?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5120640"/>
            <a:ext cx="777240" cy="77724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20640"/>
            <a:ext cx="77724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120640"/>
            <a:ext cx="406908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1A1F2E"/>
                </a:solidFill>
                <a:latin typeface="Calibri"/>
              </a:rPr>
              <a:t>How fast can we see something working?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84632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A1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5120640"/>
            <a:ext cx="777240" cy="77724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120640"/>
            <a:ext cx="77724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5120640"/>
            <a:ext cx="406908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1A1F2E"/>
                </a:solidFill>
                <a:latin typeface="Calibri"/>
              </a:rPr>
              <a:t>What does the audit story look like?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 i="1">
                <a:solidFill>
                  <a:srgbClr val="475569"/>
                </a:solidFill>
                <a:latin typeface="Calibri"/>
              </a:rPr>
              <a:t>If stuck for 30 seconds — redirect:  “Let me show you in the live demo, it's faster.”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8640"/>
            <a:ext cx="12191695" cy="5303520"/>
          </a:xfrm>
          <a:prstGeom prst="rect">
            <a:avLst/>
          </a:prstGeom>
          <a:solidFill>
            <a:srgbClr val="0E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82880" cy="53035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0" i="1">
                <a:solidFill>
                  <a:srgbClr val="CBD5E1"/>
                </a:solidFill>
                <a:latin typeface="Calibri"/>
              </a:rPr>
              <a:t>Three actions  ·  every DMTSP seller  ·  every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645920" cy="10058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72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423160"/>
            <a:ext cx="91440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OPEN  the 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97180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  <a:latin typeface="Calibri"/>
              </a:rPr>
              <a:t>60 minutes  ·  one client meeting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645920" cy="10058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72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566160"/>
            <a:ext cx="91440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BOOK  the  BVA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11480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  <a:latin typeface="Calibri"/>
              </a:rPr>
              <a:t>4 hours  ·  client-funded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1645920" cy="10058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72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709160"/>
            <a:ext cx="91440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SIGN  Pack Lite SOW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25780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  <a:latin typeface="Calibri"/>
              </a:rPr>
              <a:t>DCIF  ·  $150-250K  ·  4-6 wks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ca-visionkit-portal.gentlestone-9b49b099.eastus2.azurecontainerapps.io/architecture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
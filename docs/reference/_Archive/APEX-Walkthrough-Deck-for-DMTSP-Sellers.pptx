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194560"/>
            <a:ext cx="137160" cy="2286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4572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6400" b="1">
                <a:solidFill>
                  <a:srgbClr val="CADCFC"/>
                </a:solidFill>
                <a:latin typeface="Georgia"/>
              </a:rPr>
              <a:t>APEX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058400" cy="6400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Georgia"/>
              </a:rPr>
              <a:t>Deloitte's agentic-AI delivery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What it is · how to demo it · how to make it real in clients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4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7315200" cy="54864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Walkthrough deck for DMTSP — sellers · account leads · practice leads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172200"/>
            <a:ext cx="3200400" cy="54864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r"/>
            <a:r>
              <a:rPr sz="1000" b="0">
                <a:solidFill>
                  <a:srgbClr val="CADCFC"/>
                </a:solidFill>
                <a:latin typeface="Calibri"/>
              </a:rPr>
              <a:t>Internal use only · v1 · 2026-05-23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1E2761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"/>
            <a:ext cx="10058400" cy="50292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APEX 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5156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The simplest framing — start every client conversation 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881360" cy="219456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800" b="0">
                <a:solidFill>
                  <a:srgbClr val="0D1117"/>
                </a:solidFill>
                <a:latin typeface="Calibri"/>
              </a:rPr>
              <a:t>“APEX is the engagement layer cloud vendors don't ship.”</a:t>
            </a:r>
          </a:p>
          <a:p>
            <a:pPr algn="ctr"/>
            <a:r>
              <a:rPr sz="1800" b="0">
                <a:solidFill>
                  <a:srgbClr val="0D1117"/>
                </a:solidFill>
                <a:latin typeface="Calibri"/>
              </a:rPr>
              <a:t/>
            </a:r>
          </a:p>
          <a:p>
            <a:pPr algn="ctr"/>
            <a:r>
              <a:rPr sz="1800" b="0">
                <a:solidFill>
                  <a:srgbClr val="0D1117"/>
                </a:solidFill>
                <a:latin typeface="Calibri"/>
              </a:rPr>
              <a:t>Foundry, Vertex, and Bedrock are excellent agent runtimes.</a:t>
            </a:r>
          </a:p>
          <a:p>
            <a:pPr algn="ctr"/>
            <a:r>
              <a:rPr sz="1800" b="0">
                <a:solidFill>
                  <a:srgbClr val="0D1117"/>
                </a:solidFill>
                <a:latin typeface="Calibri"/>
              </a:rPr>
              <a:t>They are not engagement systems. APEX is what turns an</a:t>
            </a:r>
          </a:p>
          <a:p>
            <a:pPr algn="ctr"/>
            <a:r>
              <a:rPr sz="1800" b="0">
                <a:solidFill>
                  <a:srgbClr val="0D1117"/>
                </a:solidFill>
                <a:latin typeface="Calibri"/>
              </a:rPr>
              <a:t>agent runtime into a billable, audit-defensible, repeatable</a:t>
            </a:r>
          </a:p>
          <a:p>
            <a:pPr algn="ctr"/>
            <a:r>
              <a:rPr sz="1800" b="0">
                <a:solidFill>
                  <a:srgbClr val="0D1117"/>
                </a:solidFill>
                <a:latin typeface="Calibri"/>
              </a:rPr>
              <a:t>Deloitte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0A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BILLABLE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Defined methodology · SOW templates · BVA worksheets per Pack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1148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AUDIT-DEFENSIBLE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14-field WORM LEDGER · HMAC-signed · cryptographically replayable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41148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6E5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REPEATABLE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10-asset Pack bundles · same engineering structure every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800" b="0">
                <a:solidFill>
                  <a:srgbClr val="7D8590"/>
                </a:solidFill>
                <a:latin typeface="Calibri"/>
              </a:rPr>
              <a:t>Deloitte Microsoft Technology &amp; Services Practice (DMTSP) · APEX walkthrough · internal use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/>
            <a:r>
              <a:rPr sz="800" b="0">
                <a:solidFill>
                  <a:srgbClr val="7D8590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1E2761"/>
                </a:solidFill>
                <a:latin typeface="Georg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"/>
            <a:ext cx="10058400" cy="50292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The problem APEX solves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5156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Why a client can't just buy Foundry and be 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49240" cy="4572000"/>
          </a:xfrm>
          <a:prstGeom prst="roundRect">
            <a:avLst>
              <a:gd name="adj" fmla="val 8000"/>
            </a:avLst>
          </a:prstGeom>
          <a:solidFill>
            <a:srgbClr val="F8EEEE"/>
          </a:solidFill>
          <a:ln w="9525">
            <a:solidFill>
              <a:srgbClr val="D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5029200" cy="4572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400" b="1">
                <a:solidFill>
                  <a:srgbClr val="A03535"/>
                </a:solidFill>
                <a:latin typeface="Georgia"/>
              </a:rPr>
              <a:t>WITHOUT APEX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029200" cy="39319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300" b="0">
                <a:solidFill>
                  <a:srgbClr val="0D1117"/>
                </a:solidFill>
                <a:latin typeface="Calibri"/>
              </a:rPr>
              <a:t>•  Cloud vendor ships the runtime, not the engagement</a:t>
            </a:r>
          </a:p>
          <a:p>
            <a:pPr algn="l"/>
            <a:r>
              <a:rPr sz="1300" b="0">
                <a:solidFill>
                  <a:srgbClr val="0D1117"/>
                </a:solidFill>
                <a:latin typeface="Calibri"/>
              </a:rPr>
              <a:t>•  Project competes with what the client could build from docs</a:t>
            </a:r>
          </a:p>
          <a:p>
            <a:pPr algn="l"/>
            <a:r>
              <a:rPr sz="1300" b="0">
                <a:solidFill>
                  <a:srgbClr val="0D1117"/>
                </a:solidFill>
                <a:latin typeface="Calibri"/>
              </a:rPr>
              <a:t>•  Every project re-invents the data model, the audit story, the SOW</a:t>
            </a:r>
          </a:p>
          <a:p>
            <a:pPr algn="l"/>
            <a:r>
              <a:rPr sz="1300" b="0">
                <a:solidFill>
                  <a:srgbClr val="0D1117"/>
                </a:solidFill>
                <a:latin typeface="Calibri"/>
              </a:rPr>
              <a:t>•  No canonical scenarios — discovery is bespoke every time</a:t>
            </a:r>
          </a:p>
          <a:p>
            <a:pPr algn="l"/>
            <a:r>
              <a:rPr sz="1300" b="0">
                <a:solidFill>
                  <a:srgbClr val="0D1117"/>
                </a:solidFill>
                <a:latin typeface="Calibri"/>
              </a:rPr>
              <a:t>•  Margin compresses; deal-shape resembles staff augmentation</a:t>
            </a:r>
          </a:p>
          <a:p>
            <a:pPr algn="l"/>
            <a:r>
              <a:rPr sz="1300" b="0">
                <a:solidFill>
                  <a:srgbClr val="0D1117"/>
                </a:solidFill>
                <a:latin typeface="Calibri"/>
              </a:rPr>
              <a:t>•  Client has no audit-defensible replay; trust is fragile</a:t>
            </a:r>
          </a:p>
          <a:p>
            <a:pPr algn="l"/>
            <a:r>
              <a:rPr sz="1300" b="0">
                <a:solidFill>
                  <a:srgbClr val="0D1117"/>
                </a:solidFill>
                <a:latin typeface="Calibri"/>
              </a:rPr>
              <a:t>•  Replatform = re-do everything (Foundry → Vertex)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49240" cy="457200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Georgia"/>
              </a:rPr>
              <a:t>WITH APEX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029200" cy="39319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300" b="0">
                <a:solidFill>
                  <a:srgbClr val="0D1117"/>
                </a:solidFill>
                <a:latin typeface="Calibri"/>
              </a:rPr>
              <a:t>•  Deloitte sells the engagement layer cloud vendors don't</a:t>
            </a:r>
          </a:p>
          <a:p>
            <a:pPr algn="l"/>
            <a:r>
              <a:rPr sz="1300" b="0">
                <a:solidFill>
                  <a:srgbClr val="0D1117"/>
                </a:solidFill>
                <a:latin typeface="Calibri"/>
              </a:rPr>
              <a:t>•  Industry Packs ship pre-built canonical scenarios</a:t>
            </a:r>
          </a:p>
          <a:p>
            <a:pPr algn="l"/>
            <a:r>
              <a:rPr sz="1300" b="0">
                <a:solidFill>
                  <a:srgbClr val="0D1117"/>
                </a:solidFill>
                <a:latin typeface="Calibri"/>
              </a:rPr>
              <a:t>•  10-asset bundle — same engineering structure every Pack</a:t>
            </a:r>
          </a:p>
          <a:p>
            <a:pPr algn="l"/>
            <a:r>
              <a:rPr sz="1300" b="0">
                <a:solidFill>
                  <a:srgbClr val="0D1117"/>
                </a:solidFill>
                <a:latin typeface="Calibri"/>
              </a:rPr>
              <a:t>•  WORM LEDGER + reasoning-trace + replay — audit-grade by default</a:t>
            </a:r>
          </a:p>
          <a:p>
            <a:pPr algn="l"/>
            <a:r>
              <a:rPr sz="1300" b="0">
                <a:solidFill>
                  <a:srgbClr val="0D1117"/>
                </a:solidFill>
                <a:latin typeface="Calibri"/>
              </a:rPr>
              <a:t>•  Five Service Envelope tiers — clear funding paths</a:t>
            </a:r>
          </a:p>
          <a:p>
            <a:pPr algn="l"/>
            <a:r>
              <a:rPr sz="1300" b="0">
                <a:solidFill>
                  <a:srgbClr val="0D1117"/>
                </a:solidFill>
                <a:latin typeface="Calibri"/>
              </a:rPr>
              <a:t>•  Three cloud profiles (M / G / A) — replatform = change `profile:` line</a:t>
            </a:r>
          </a:p>
          <a:p>
            <a:pPr algn="l"/>
            <a:r>
              <a:rPr sz="1300" b="0">
                <a:solidFill>
                  <a:srgbClr val="0D1117"/>
                </a:solidFill>
                <a:latin typeface="Calibri"/>
              </a:rPr>
              <a:t>•  4-6 wks to ship Pack Lite vs. 4-6 mo from scratch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800" b="0">
                <a:solidFill>
                  <a:srgbClr val="7D8590"/>
                </a:solidFill>
                <a:latin typeface="Calibri"/>
              </a:rPr>
              <a:t>Deloitte Microsoft Technology &amp; Services Practice (DMTSP) · APEX walkthrough · internal use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/>
            <a:r>
              <a:rPr sz="800" b="0">
                <a:solidFill>
                  <a:srgbClr val="7D8590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1E2761"/>
                </a:solidFill>
                <a:latin typeface="Georgi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"/>
            <a:ext cx="10058400" cy="50292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The 5 pieces of APEX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5156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Every APEX engagement assembles from these — memorize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731520" cy="8229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2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4572000" cy="4114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Georgia"/>
              </a:rPr>
              <a:t>Cloud-Neutral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45920"/>
            <a:ext cx="4572000" cy="5029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0">
                <a:solidFill>
                  <a:srgbClr val="0D1117"/>
                </a:solidFill>
                <a:latin typeface="Calibri"/>
              </a:rPr>
              <a:t>The IP — written once. 14-interface contract, runtime primitives,
canonical schemas, 6-agent fleet, WORM LEDGER.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40680" cy="640080"/>
          </a:xfrm>
          <a:prstGeom prst="roundRect">
            <a:avLst>
              <a:gd name="adj" fmla="val 10000"/>
            </a:avLst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050" b="0">
                <a:solidFill>
                  <a:srgbClr val="1E2761"/>
                </a:solidFill>
                <a:latin typeface="Calibri"/>
              </a:rPr>
              <a:t>9 packages · 12,649 LOC · 509 passing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40280"/>
            <a:ext cx="731520" cy="8229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2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240280"/>
            <a:ext cx="4572000" cy="4114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Georgia"/>
              </a:rPr>
              <a:t>Cloud Profiles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606040"/>
            <a:ext cx="4572000" cy="5029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0">
                <a:solidFill>
                  <a:srgbClr val="0D1117"/>
                </a:solidFill>
                <a:latin typeface="Calibri"/>
              </a:rPr>
              <a:t>M (Microsoft / Azure · GA), G (Google · Beta), A (AWS · Beta).
Each profile implements the same 14-interface contract.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440680" cy="640080"/>
          </a:xfrm>
          <a:prstGeom prst="roundRect">
            <a:avLst>
              <a:gd name="adj" fmla="val 10000"/>
            </a:avLst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050" b="0">
                <a:solidFill>
                  <a:srgbClr val="1E2761"/>
                </a:solidFill>
                <a:latin typeface="Calibri"/>
              </a:rPr>
              <a:t>Swap rule: change `profile:` in cloud-profile.yaml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00400"/>
            <a:ext cx="731520" cy="8229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2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200400"/>
            <a:ext cx="4572000" cy="4114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Georgia"/>
              </a:rPr>
              <a:t>Industry Packs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566160"/>
            <a:ext cx="4572000" cy="5029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0">
                <a:solidFill>
                  <a:srgbClr val="0D1117"/>
                </a:solidFill>
                <a:latin typeface="Calibri"/>
              </a:rPr>
              <a:t>10-asset bundles per industry. Manufacturing, Retail Merch,
Finance, Risk, CX, ESG, and CFMP (customer-side).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291840"/>
            <a:ext cx="5440680" cy="640080"/>
          </a:xfrm>
          <a:prstGeom prst="roundRect">
            <a:avLst>
              <a:gd name="adj" fmla="val 10000"/>
            </a:avLst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050" b="0">
                <a:solidFill>
                  <a:srgbClr val="1E2761"/>
                </a:solidFill>
                <a:latin typeface="Calibri"/>
              </a:rPr>
              <a:t>7 packs in the catalog today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60520"/>
            <a:ext cx="731520" cy="8229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2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160520"/>
            <a:ext cx="4572000" cy="4114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Georgia"/>
              </a:rPr>
              <a:t>Service Envelopes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526280"/>
            <a:ext cx="4572000" cy="5029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0">
                <a:solidFill>
                  <a:srgbClr val="0D1117"/>
                </a:solidFill>
                <a:latin typeface="Calibri"/>
              </a:rPr>
              <a:t>Five sellable engagement tiers — Foundation, Pack, Scenario,
Custom, Operate. Stackable; clear funding paths.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51960"/>
            <a:ext cx="5440680" cy="640080"/>
          </a:xfrm>
          <a:prstGeom prst="roundRect">
            <a:avLst>
              <a:gd name="adj" fmla="val 10000"/>
            </a:avLst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050" b="0">
                <a:solidFill>
                  <a:srgbClr val="1E2761"/>
                </a:solidFill>
                <a:latin typeface="Calibri"/>
              </a:rPr>
              <a:t>BVA · DCIF · ISV burndown · SI Teaming · T&amp;M · Client direct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20640"/>
            <a:ext cx="731520" cy="8229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2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120640"/>
            <a:ext cx="4572000" cy="4114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Georgia"/>
              </a:rPr>
              <a:t>WORM LEDGER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486400"/>
            <a:ext cx="4572000" cy="5029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0">
                <a:solidFill>
                  <a:srgbClr val="0D1117"/>
                </a:solidFill>
                <a:latin typeface="Calibri"/>
              </a:rPr>
              <a:t>14-field hash-chained audit row per decision. Reasoning-trace
+ cryptographic replay. The story no cloud vendor ships.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212080"/>
            <a:ext cx="5440680" cy="640080"/>
          </a:xfrm>
          <a:prstGeom prst="roundRect">
            <a:avLst>
              <a:gd name="adj" fmla="val 10000"/>
            </a:avLst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050" b="0">
                <a:solidFill>
                  <a:srgbClr val="1E2761"/>
                </a:solidFill>
                <a:latin typeface="Calibri"/>
              </a:rPr>
              <a:t>HMAC-SHA256 chain · per-step content hashes · auditor-grade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800" b="0">
                <a:solidFill>
                  <a:srgbClr val="7D8590"/>
                </a:solidFill>
                <a:latin typeface="Calibri"/>
              </a:rPr>
              <a:t>Deloitte Microsoft Technology &amp; Services Practice (DMTSP) · APEX walkthrough · internal use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/>
            <a:r>
              <a:rPr sz="800" b="0">
                <a:solidFill>
                  <a:srgbClr val="7D8590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1E2761"/>
                </a:solidFill>
                <a:latin typeface="Georgi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"/>
            <a:ext cx="10058400" cy="50292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The APEX family — M / G /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5156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Same Core, same Packs, different cloud 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5486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800" b="1">
                <a:solidFill>
                  <a:srgbClr val="CADCFC"/>
                </a:solidFill>
                <a:latin typeface="Calibri"/>
              </a:rPr>
              <a:t>APEX-M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9184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Georgia"/>
              </a:rPr>
              <a:t>Microsoft · Azure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1828800" cy="292608"/>
          </a:xfrm>
          <a:prstGeom prst="roundRect">
            <a:avLst>
              <a:gd name="adj" fmla="val 30000"/>
            </a:avLst>
          </a:prstGeom>
          <a:solidFill>
            <a:srgbClr val="0A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GA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3291840" cy="30175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0D1117"/>
                </a:solidFill>
                <a:latin typeface="Calibri"/>
              </a:rPr>
              <a:t>•  Foundry + Azure OpenAI</a:t>
            </a:r>
          </a:p>
          <a:p>
            <a:pPr algn="l"/>
            <a:r>
              <a:rPr sz="1100" b="0">
                <a:solidFill>
                  <a:srgbClr val="0D1117"/>
                </a:solidFill>
                <a:latin typeface="Calibri"/>
              </a:rPr>
              <a:t>•  OneLake (Delta) + Fabric SQL</a:t>
            </a:r>
          </a:p>
          <a:p>
            <a:pPr algn="l"/>
            <a:r>
              <a:rPr sz="1100" b="0">
                <a:solidFill>
                  <a:srgbClr val="0D1117"/>
                </a:solidFill>
                <a:latin typeface="Calibri"/>
              </a:rPr>
              <a:t>•  Entra ID · Key Vault · Purview</a:t>
            </a:r>
          </a:p>
          <a:p>
            <a:pPr algn="l"/>
            <a:r>
              <a:rPr sz="1100" b="0">
                <a:solidFill>
                  <a:srgbClr val="0D1117"/>
                </a:solidFill>
                <a:latin typeface="Calibri"/>
              </a:rPr>
              <a:t>•  Teams Adaptive Cards (HITL)</a:t>
            </a:r>
          </a:p>
          <a:p>
            <a:pPr algn="l"/>
            <a:r>
              <a:rPr sz="1100" b="0">
                <a:solidFill>
                  <a:srgbClr val="0D1117"/>
                </a:solidFill>
                <a:latin typeface="Calibri"/>
              </a:rPr>
              <a:t>•  Azure Maps Creator (interface #15)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657600" cy="5486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800" b="1">
                <a:solidFill>
                  <a:srgbClr val="CADCFC"/>
                </a:solidFill>
                <a:latin typeface="Calibri"/>
              </a:rPr>
              <a:t>APEX-G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6596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329184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Georgia"/>
              </a:rPr>
              <a:t>Google · GCP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514600"/>
            <a:ext cx="1828800" cy="292608"/>
          </a:xfrm>
          <a:prstGeom prst="roundRect">
            <a:avLst>
              <a:gd name="adj" fmla="val 30000"/>
            </a:avLst>
          </a:prstGeom>
          <a:solidFill>
            <a:srgbClr val="6E5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Beta Q3 FY27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26080"/>
            <a:ext cx="3291840" cy="30175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0D1117"/>
                </a:solidFill>
                <a:latin typeface="Calibri"/>
              </a:rPr>
              <a:t>•  Vertex AI + Gemini</a:t>
            </a:r>
          </a:p>
          <a:p>
            <a:pPr algn="l"/>
            <a:r>
              <a:rPr sz="1100" b="0">
                <a:solidFill>
                  <a:srgbClr val="0D1117"/>
                </a:solidFill>
                <a:latin typeface="Calibri"/>
              </a:rPr>
              <a:t>•  BigQuery + BigLake</a:t>
            </a:r>
          </a:p>
          <a:p>
            <a:pPr algn="l"/>
            <a:r>
              <a:rPr sz="1100" b="0">
                <a:solidFill>
                  <a:srgbClr val="0D1117"/>
                </a:solidFill>
                <a:latin typeface="Calibri"/>
              </a:rPr>
              <a:t>•  Cloud Identity · Secret Manager · Dataplex</a:t>
            </a:r>
          </a:p>
          <a:p>
            <a:pPr algn="l"/>
            <a:r>
              <a:rPr sz="1100" b="0">
                <a:solidFill>
                  <a:srgbClr val="0D1117"/>
                </a:solidFill>
                <a:latin typeface="Calibri"/>
              </a:rPr>
              <a:t>•  Google Chat cards / GWS</a:t>
            </a:r>
          </a:p>
          <a:p>
            <a:pPr algn="l"/>
            <a:r>
              <a:rPr sz="1100" b="0">
                <a:solidFill>
                  <a:srgbClr val="0D1117"/>
                </a:solidFill>
                <a:latin typeface="Calibri"/>
              </a:rPr>
              <a:t>•  Google Maps Geospatial Creator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371600"/>
            <a:ext cx="3657600" cy="5486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800" b="1">
                <a:solidFill>
                  <a:srgbClr val="CADCFC"/>
                </a:solidFill>
                <a:latin typeface="Calibri"/>
              </a:rPr>
              <a:t>APEX-A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96596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103120"/>
            <a:ext cx="329184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Georgia"/>
              </a:rPr>
              <a:t>Amazon · AWS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2514600"/>
            <a:ext cx="1828800" cy="292608"/>
          </a:xfrm>
          <a:prstGeom prst="roundRect">
            <a:avLst>
              <a:gd name="adj" fmla="val 30000"/>
            </a:avLst>
          </a:prstGeom>
          <a:solidFill>
            <a:srgbClr val="6E5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Beta Q4 FY27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926080"/>
            <a:ext cx="3291840" cy="30175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0D1117"/>
                </a:solidFill>
                <a:latin typeface="Calibri"/>
              </a:rPr>
              <a:t>•  Bedrock (Claude / Nova)</a:t>
            </a:r>
          </a:p>
          <a:p>
            <a:pPr algn="l"/>
            <a:r>
              <a:rPr sz="1100" b="0">
                <a:solidFill>
                  <a:srgbClr val="0D1117"/>
                </a:solidFill>
                <a:latin typeface="Calibri"/>
              </a:rPr>
              <a:t>•  S3 + Lake Formation</a:t>
            </a:r>
          </a:p>
          <a:p>
            <a:pPr algn="l"/>
            <a:r>
              <a:rPr sz="1100" b="0">
                <a:solidFill>
                  <a:srgbClr val="0D1117"/>
                </a:solidFill>
                <a:latin typeface="Calibri"/>
              </a:rPr>
              <a:t>•  IAM Identity Center · Secrets Manager</a:t>
            </a:r>
          </a:p>
          <a:p>
            <a:pPr algn="l"/>
            <a:r>
              <a:rPr sz="1100" b="0">
                <a:solidFill>
                  <a:srgbClr val="0D1117"/>
                </a:solidFill>
                <a:latin typeface="Calibri"/>
              </a:rPr>
              <a:t>•  Slack Connect / Workmail</a:t>
            </a:r>
          </a:p>
          <a:p>
            <a:pPr algn="l"/>
            <a:r>
              <a:rPr sz="1100" b="0">
                <a:solidFill>
                  <a:srgbClr val="0D1117"/>
                </a:solidFill>
                <a:latin typeface="Calibri"/>
              </a:rPr>
              <a:t>•  Amazon Location Service indoor maps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1097280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ctr"/>
            <a:r>
              <a:rPr sz="1100" b="0">
                <a:solidFill>
                  <a:srgbClr val="7D8590"/>
                </a:solidFill>
                <a:latin typeface="Calibri"/>
              </a:rPr>
              <a:t>Industry Packs (incl. CFMP) consume the abstract Core interface only — Pack code never imports a cloud module.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800" b="0">
                <a:solidFill>
                  <a:srgbClr val="7D8590"/>
                </a:solidFill>
                <a:latin typeface="Calibri"/>
              </a:rPr>
              <a:t>Deloitte Microsoft Technology &amp; Services Practice (DMTSP) · APEX walkthrough · internal use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/>
            <a:r>
              <a:rPr sz="800" b="0">
                <a:solidFill>
                  <a:srgbClr val="7D8590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1E2761"/>
                </a:solidFill>
                <a:latin typeface="Georgia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"/>
            <a:ext cx="10058400" cy="50292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Industry Packs — the catalog (7 today)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5156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Each Pack ships the same 10-asset bundle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640080" cy="5943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1234440"/>
            <a:ext cx="3840480" cy="5943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234440"/>
            <a:ext cx="3383280" cy="5943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Buyer persona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234440"/>
            <a:ext cx="1828800" cy="5943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Schema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32720" y="1234440"/>
            <a:ext cx="1417320" cy="5943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6400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050" b="0">
                <a:solidFill>
                  <a:srgbClr val="0D1117"/>
                </a:solidFill>
                <a:latin typeface="Calibri"/>
              </a:rP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1828800"/>
            <a:ext cx="38404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050" b="0">
                <a:solidFill>
                  <a:srgbClr val="0D1117"/>
                </a:solidFill>
                <a:latin typeface="Calibri"/>
              </a:rPr>
              <a:t>Manufacturing v1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828800"/>
            <a:ext cx="33832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000" b="0">
                <a:solidFill>
                  <a:srgbClr val="0D1117"/>
                </a:solidFill>
                <a:latin typeface="Calibri"/>
              </a:rPr>
              <a:t>Plant Manager · Ops Director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828800"/>
            <a:ext cx="18288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MFGML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20" y="1828800"/>
            <a:ext cx="1417320" cy="594360"/>
          </a:xfrm>
          <a:prstGeom prst="roundRect">
            <a:avLst>
              <a:gd name="adj" fmla="val 8000"/>
            </a:avLst>
          </a:prstGeom>
          <a:solidFill>
            <a:srgbClr val="0A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23160"/>
            <a:ext cx="6400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050" b="0">
                <a:solidFill>
                  <a:srgbClr val="0D1117"/>
                </a:solidFill>
                <a:latin typeface="Calibri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2423160"/>
            <a:ext cx="38404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050" b="0">
                <a:solidFill>
                  <a:srgbClr val="0D1117"/>
                </a:solidFill>
                <a:latin typeface="Calibri"/>
              </a:rPr>
              <a:t>Retail Merchandising v1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423160"/>
            <a:ext cx="33832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000" b="0">
                <a:solidFill>
                  <a:srgbClr val="0D1117"/>
                </a:solidFill>
                <a:latin typeface="Calibri"/>
              </a:rPr>
              <a:t>Chief Merchant · DMM · Planning Lead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2423160"/>
            <a:ext cx="18288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MERML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0" y="2423160"/>
            <a:ext cx="1417320" cy="594360"/>
          </a:xfrm>
          <a:prstGeom prst="roundRect">
            <a:avLst>
              <a:gd name="adj" fmla="val 8000"/>
            </a:avLst>
          </a:prstGeom>
          <a:solidFill>
            <a:srgbClr val="6E5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v1 Q2 FY27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017520"/>
            <a:ext cx="6400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050" b="0">
                <a:solidFill>
                  <a:srgbClr val="0D1117"/>
                </a:solidFill>
                <a:latin typeface="Calibri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3017520"/>
            <a:ext cx="38404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050" b="0">
                <a:solidFill>
                  <a:srgbClr val="0D1117"/>
                </a:solidFill>
                <a:latin typeface="Calibri"/>
              </a:rPr>
              <a:t>Finance / Controllership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3017520"/>
            <a:ext cx="33832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000" b="0">
                <a:solidFill>
                  <a:srgbClr val="0D1117"/>
                </a:solidFill>
                <a:latin typeface="Calibri"/>
              </a:rPr>
              <a:t>Controller · CFO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8200" y="3017520"/>
            <a:ext cx="18288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FINML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32720" y="3017520"/>
            <a:ext cx="1417320" cy="594360"/>
          </a:xfrm>
          <a:prstGeom prst="roundRect">
            <a:avLst>
              <a:gd name="adj" fmla="val 8000"/>
            </a:avLst>
          </a:prstGeom>
          <a:solidFill>
            <a:srgbClr val="6E5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v1 Q4 FY27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611880"/>
            <a:ext cx="6400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050" b="0">
                <a:solidFill>
                  <a:srgbClr val="0D1117"/>
                </a:solidFill>
                <a:latin typeface="Calibri"/>
              </a:rPr>
              <a:t>04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3611880"/>
            <a:ext cx="38404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050" b="0">
                <a:solidFill>
                  <a:srgbClr val="0D1117"/>
                </a:solidFill>
                <a:latin typeface="Calibri"/>
              </a:rPr>
              <a:t>Risk &amp; Compliance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3611880"/>
            <a:ext cx="33832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000" b="0">
                <a:solidFill>
                  <a:srgbClr val="0D1117"/>
                </a:solidFill>
                <a:latin typeface="Calibri"/>
              </a:rPr>
              <a:t>SOX PMO Lead · CRO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58200" y="3611880"/>
            <a:ext cx="18288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RISKML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3611880"/>
            <a:ext cx="1417320" cy="594360"/>
          </a:xfrm>
          <a:prstGeom prst="roundRect">
            <a:avLst>
              <a:gd name="adj" fmla="val 8000"/>
            </a:avLst>
          </a:prstGeom>
          <a:solidFill>
            <a:srgbClr val="6E5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v1 Q4 FY27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06240"/>
            <a:ext cx="6400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050" b="0">
                <a:solidFill>
                  <a:srgbClr val="0D1117"/>
                </a:solidFill>
                <a:latin typeface="Calibri"/>
              </a:rPr>
              <a:t>05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206240"/>
            <a:ext cx="38404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050" b="0">
                <a:solidFill>
                  <a:srgbClr val="0D1117"/>
                </a:solidFill>
                <a:latin typeface="Calibri"/>
              </a:rPr>
              <a:t>Customer Experience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4206240"/>
            <a:ext cx="33832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000" b="0">
                <a:solidFill>
                  <a:srgbClr val="0D1117"/>
                </a:solidFill>
                <a:latin typeface="Calibri"/>
              </a:rPr>
              <a:t>Care Ops Lead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58200" y="4206240"/>
            <a:ext cx="18288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CXML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32720" y="4206240"/>
            <a:ext cx="1417320" cy="594360"/>
          </a:xfrm>
          <a:prstGeom prst="roundRect">
            <a:avLst>
              <a:gd name="adj" fmla="val 8000"/>
            </a:avLst>
          </a:prstGeom>
          <a:solidFill>
            <a:srgbClr val="6E5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v1 Q4 FY27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800600"/>
            <a:ext cx="6400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050" b="0">
                <a:solidFill>
                  <a:srgbClr val="0D1117"/>
                </a:solidFill>
                <a:latin typeface="Calibri"/>
              </a:rPr>
              <a:t>06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" y="4800600"/>
            <a:ext cx="38404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050" b="0">
                <a:solidFill>
                  <a:srgbClr val="0D1117"/>
                </a:solidFill>
                <a:latin typeface="Calibri"/>
              </a:rPr>
              <a:t>ESG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0" y="4800600"/>
            <a:ext cx="33832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000" b="0">
                <a:solidFill>
                  <a:srgbClr val="0D1117"/>
                </a:solidFill>
                <a:latin typeface="Calibri"/>
              </a:rPr>
              <a:t>Sustainability Officer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58200" y="4800600"/>
            <a:ext cx="18288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ESGML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32720" y="4800600"/>
            <a:ext cx="1417320" cy="594360"/>
          </a:xfrm>
          <a:prstGeom prst="roundRect">
            <a:avLst>
              <a:gd name="adj" fmla="val 8000"/>
            </a:avLst>
          </a:prstGeom>
          <a:solidFill>
            <a:srgbClr val="6E5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v1 Q3 FY28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394960"/>
            <a:ext cx="640080" cy="59436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050" b="1">
                <a:solidFill>
                  <a:srgbClr val="0D1117"/>
                </a:solidFill>
                <a:latin typeface="Calibri"/>
              </a:rPr>
              <a:t>07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3000" y="5394960"/>
            <a:ext cx="3840480" cy="59436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050" b="1">
                <a:solidFill>
                  <a:srgbClr val="1E2761"/>
                </a:solidFill>
                <a:latin typeface="Calibri"/>
              </a:rPr>
              <a:t>CFMP · Customer Focused Merchandise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0" y="5394960"/>
            <a:ext cx="3383280" cy="59436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000" b="0">
                <a:solidFill>
                  <a:srgbClr val="0D1117"/>
                </a:solidFill>
                <a:latin typeface="Calibri"/>
              </a:rPr>
              <a:t>CMO · CX-VP · Loyalty Director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58200" y="5394960"/>
            <a:ext cx="1828800" cy="59436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CXML + MERML + new cfmp namespace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32720" y="5394960"/>
            <a:ext cx="1417320" cy="594360"/>
          </a:xfrm>
          <a:prstGeom prst="roundRect">
            <a:avLst>
              <a:gd name="adj" fmla="val 8000"/>
            </a:avLst>
          </a:prstGeom>
          <a:solidFill>
            <a:srgbClr val="0A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Phase 1 LIVE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800" b="0">
                <a:solidFill>
                  <a:srgbClr val="7D8590"/>
                </a:solidFill>
                <a:latin typeface="Calibri"/>
              </a:rPr>
              <a:t>Deloitte Microsoft Technology &amp; Services Practice (DMTSP) · APEX walkthrough · internal use 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/>
            <a:r>
              <a:rPr sz="800" b="0">
                <a:solidFill>
                  <a:srgbClr val="7D8590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1E2761"/>
                </a:solidFill>
                <a:latin typeface="Georgia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"/>
            <a:ext cx="10058400" cy="50292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The 10-Asset Pack bundle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5156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Same engineering structure every Pack — that's why new packs land predictably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2240280" cy="233172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2240280" cy="3657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150" b="1">
                <a:solidFill>
                  <a:srgbClr val="CADCFC"/>
                </a:solidFill>
                <a:latin typeface="Calibri"/>
              </a:rPr>
              <a:t>01   VV manifests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011680" cy="2743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  <a:latin typeface="Calibri"/>
              </a:rPr>
              <a:t>views/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2011680" cy="1463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Declarative federated Virtual Views with thresholds + resolution routes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280160"/>
            <a:ext cx="2240280" cy="233172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1280160"/>
            <a:ext cx="2240280" cy="3657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150" b="1">
                <a:solidFill>
                  <a:srgbClr val="CADCFC"/>
                </a:solidFill>
                <a:latin typeface="Calibri"/>
              </a:rPr>
              <a:t>02   Scenario manifests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737360"/>
            <a:ext cx="2011680" cy="2743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  <a:latin typeface="Calibri"/>
              </a:rPr>
              <a:t>scenarios/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057400"/>
            <a:ext cx="2011680" cy="1463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End-to-end business outcomes composed from Virtual Views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280160"/>
            <a:ext cx="2240280" cy="233172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74920" y="1280160"/>
            <a:ext cx="2240280" cy="3657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150" b="1">
                <a:solidFill>
                  <a:srgbClr val="CADCFC"/>
                </a:solidFill>
                <a:latin typeface="Calibri"/>
              </a:rPr>
              <a:t>03   Source adapters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737360"/>
            <a:ext cx="2011680" cy="2743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  <a:latin typeface="Calibri"/>
              </a:rPr>
              <a:t>adapters/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057400"/>
            <a:ext cx="2011680" cy="1463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Connectors to common source systems for the industry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280160"/>
            <a:ext cx="2240280" cy="233172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6640" y="1280160"/>
            <a:ext cx="2240280" cy="3657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150" b="1">
                <a:solidFill>
                  <a:srgbClr val="CADCFC"/>
                </a:solidFill>
                <a:latin typeface="Calibri"/>
              </a:rPr>
              <a:t>04   Adaptive Cards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1737360"/>
            <a:ext cx="2011680" cy="2743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  <a:latin typeface="Calibri"/>
              </a:rPr>
              <a:t>cards/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057400"/>
            <a:ext cx="2011680" cy="1463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JSON cards per persona role and breach band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59" y="1280160"/>
            <a:ext cx="2240280" cy="233172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38359" y="1280160"/>
            <a:ext cx="2240280" cy="3657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150" b="1">
                <a:solidFill>
                  <a:srgbClr val="CADCFC"/>
                </a:solidFill>
                <a:latin typeface="Calibri"/>
              </a:rPr>
              <a:t>05   Persona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19" y="1737360"/>
            <a:ext cx="2011680" cy="2743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  <a:latin typeface="Calibri"/>
              </a:rPr>
              <a:t>personas.yaml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2057400"/>
            <a:ext cx="2011680" cy="1463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Role→identity binding + SLAs + escalation chain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749039"/>
            <a:ext cx="2240280" cy="233172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11480" y="3749039"/>
            <a:ext cx="2240280" cy="3657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150" b="1">
                <a:solidFill>
                  <a:srgbClr val="CADCFC"/>
                </a:solidFill>
                <a:latin typeface="Calibri"/>
              </a:rPr>
              <a:t>06   Demo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06239"/>
            <a:ext cx="2011680" cy="2743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  <a:latin typeface="Calibri"/>
              </a:rPr>
              <a:t>demo-data/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26279"/>
            <a:ext cx="2011680" cy="1463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Synthetic data so the Pack runs on a laptop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3749039"/>
            <a:ext cx="2240280" cy="233172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743200" y="3749039"/>
            <a:ext cx="2240280" cy="3657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150" b="1">
                <a:solidFill>
                  <a:srgbClr val="CADCFC"/>
                </a:solidFill>
                <a:latin typeface="Calibri"/>
              </a:rPr>
              <a:t>07   BVA worksheet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4206239"/>
            <a:ext cx="2011680" cy="2743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  <a:latin typeface="Calibri"/>
              </a:rPr>
              <a:t>bva/*.xlsx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4526279"/>
            <a:ext cx="2011680" cy="1463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Industry-tuned ROI calculator for BVA workshops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74920" y="3749039"/>
            <a:ext cx="2240280" cy="233172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74920" y="3749039"/>
            <a:ext cx="2240280" cy="3657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150" b="1">
                <a:solidFill>
                  <a:srgbClr val="CADCFC"/>
                </a:solidFill>
                <a:latin typeface="Calibri"/>
              </a:rPr>
              <a:t>08   Sample SOW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4206239"/>
            <a:ext cx="2011680" cy="2743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  <a:latin typeface="Calibri"/>
              </a:rPr>
              <a:t>envelopes/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526279"/>
            <a:ext cx="2011680" cy="1463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Lite / Standard / Enterprise SOW templates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06640" y="3749039"/>
            <a:ext cx="2240280" cy="233172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406640" y="3749039"/>
            <a:ext cx="2240280" cy="3657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150" b="1">
                <a:solidFill>
                  <a:srgbClr val="CADCFC"/>
                </a:solidFill>
                <a:latin typeface="Calibri"/>
              </a:rPr>
              <a:t>09   Acceptance tests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4206239"/>
            <a:ext cx="2011680" cy="2743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  <a:latin typeface="Calibri"/>
              </a:rPr>
              <a:t>tests/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4526279"/>
            <a:ext cx="2011680" cy="1463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60+ tests proving Pack health in CI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38359" y="3749039"/>
            <a:ext cx="2240280" cy="233172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738359" y="3749039"/>
            <a:ext cx="2240280" cy="3657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150" b="1">
                <a:solidFill>
                  <a:srgbClr val="CADCFC"/>
                </a:solidFill>
                <a:latin typeface="Calibri"/>
              </a:rPr>
              <a:t>10   Runbook + training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19" y="4206239"/>
            <a:ext cx="2011680" cy="2743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  <a:latin typeface="Calibri"/>
              </a:rPr>
              <a:t>runbooks/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19" y="4526279"/>
            <a:ext cx="2011680" cy="1463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Operate procedures + analyst training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800" b="0">
                <a:solidFill>
                  <a:srgbClr val="7D8590"/>
                </a:solidFill>
                <a:latin typeface="Calibri"/>
              </a:rPr>
              <a:t>Deloitte Microsoft Technology &amp; Services Practice (DMTSP) · APEX walkthrough · internal use 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/>
            <a:r>
              <a:rPr sz="800" b="0">
                <a:solidFill>
                  <a:srgbClr val="7D8590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1E2761"/>
                </a:solidFill>
                <a:latin typeface="Georgia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"/>
            <a:ext cx="10058400" cy="50292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Spotlight: CFMP — what the live demo 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5156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Customer Focused Merchandise Pack v0.2 · Phase 1 LIVE on APEX-M dev substrate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92840" cy="91440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l"/>
            <a:r>
              <a:rPr sz="1200" b="0">
                <a:solidFill>
                  <a:srgbClr val="0D1117"/>
                </a:solidFill>
                <a:latin typeface="Calibri"/>
              </a:rPr>
              <a:t>CFMP is the first Industry Pack organized around a customer-moment spine — sibling to (not a replacement for) the operator-side</a:t>
            </a:r>
          </a:p>
          <a:p>
            <a:pPr algn="l"/>
            <a:r>
              <a:rPr sz="1200" b="0">
                <a:solidFill>
                  <a:srgbClr val="0D1117"/>
                </a:solidFill>
                <a:latin typeface="Calibri"/>
              </a:rPr>
              <a:t>Retail Merchandising Pack v1. Buyer: CMO / CX-VP / Loyalty Director. Built on the same 10-asset bundle structure as every other Pack.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FFB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400" b="1">
                <a:solidFill>
                  <a:srgbClr val="0D1117"/>
                </a:solidFill>
                <a:latin typeface="Calibri"/>
              </a:rPr>
              <a:t>🛒  CHOOSE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26517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FB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237744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7D8590"/>
                </a:solidFill>
                <a:latin typeface="Calibri"/>
              </a:rPr>
              <a:t>“What should I buy?”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74720"/>
            <a:ext cx="2377440" cy="24688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0D1117"/>
                </a:solidFill>
                <a:latin typeface="Calibri"/>
              </a:rPr>
              <a:t>Recipes · pairings · dietary filters · personalized offers · in-store ad attribution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3774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66B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400" b="1">
                <a:solidFill>
                  <a:srgbClr val="0D1117"/>
                </a:solidFill>
                <a:latin typeface="Calibri"/>
              </a:rPr>
              <a:t>🧭  SELECT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926080"/>
            <a:ext cx="26517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6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3063240"/>
            <a:ext cx="237744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7D8590"/>
                </a:solidFill>
                <a:latin typeface="Calibri"/>
              </a:rPr>
              <a:t>“Where is it?”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474720"/>
            <a:ext cx="2377440" cy="24688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0D1117"/>
                </a:solidFill>
                <a:latin typeface="Calibri"/>
              </a:rPr>
              <a:t>Wayfinding · OSA / shelf-gap · planogram compliance · aisle engagement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3774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66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400" b="1">
                <a:solidFill>
                  <a:srgbClr val="0D1117"/>
                </a:solidFill>
                <a:latin typeface="Calibri"/>
              </a:rPr>
              <a:t>💳  BUY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926080"/>
            <a:ext cx="26517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6F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063240"/>
            <a:ext cx="237744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7D8590"/>
                </a:solidFill>
                <a:latin typeface="Calibri"/>
              </a:rPr>
              <a:t>“How do I pay?”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474720"/>
            <a:ext cx="2377440" cy="24688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0D1117"/>
                </a:solidFill>
                <a:latin typeface="Calibri"/>
              </a:rPr>
              <a:t>Scan-and-go · self-checkout · queue prediction · BOPIS pickup · returns trust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23774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C2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400" b="1">
                <a:solidFill>
                  <a:srgbClr val="0D1117"/>
                </a:solidFill>
                <a:latin typeface="Calibri"/>
              </a:rPr>
              <a:t>🎯  SERVICES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2926080"/>
            <a:ext cx="26517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2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3063240"/>
            <a:ext cx="237744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7D8590"/>
                </a:solidFill>
                <a:latin typeface="Calibri"/>
              </a:rPr>
              <a:t>“What's next from you?”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3474720"/>
            <a:ext cx="2377440" cy="24688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0D1117"/>
                </a:solidFill>
                <a:latin typeface="Calibri"/>
              </a:rPr>
              <a:t>Loyalty winback · complaint triage · review summary · NPS · sentiment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800" b="0">
                <a:solidFill>
                  <a:srgbClr val="7D8590"/>
                </a:solidFill>
                <a:latin typeface="Calibri"/>
              </a:rPr>
              <a:t>Deloitte Microsoft Technology &amp; Services Practice (DMTSP) · APEX walkthrough · internal use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/>
            <a:r>
              <a:rPr sz="800" b="0">
                <a:solidFill>
                  <a:srgbClr val="7D8590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1E2761"/>
                </a:solidFill>
                <a:latin typeface="Georgia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"/>
            <a:ext cx="10058400" cy="50292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How to drive the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5156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Open in front of the client — talk through each surface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92840" cy="5943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300" b="1">
                <a:solidFill>
                  <a:srgbClr val="CADCFC"/>
                </a:solidFill>
                <a:latin typeface="Calibri"/>
              </a:rPr>
              <a:t>https://ca-visionkit-portal.gentlestone-9b49b099.eastus2.azurecontainerapps.io/architecture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1292840" cy="2743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ctr"/>
            <a:r>
              <a:rPr sz="1000" b="0">
                <a:solidFill>
                  <a:srgbClr val="7D8590"/>
                </a:solidFill>
                <a:latin typeface="Calibri"/>
              </a:rPr>
              <a:t>Open this URL for the architecture overview. Open the root URL for the customer-facing CFMP demo.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4028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502920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Georgia"/>
              </a:rPr>
              <a:t>Start at 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42032"/>
            <a:ext cx="5029200" cy="6400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“This is what the customer sees at the sampling table or kiosk.”
Note the 4 phase chips: CHOOSE · SELECT · BUY · SERVICES.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20040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54680"/>
            <a:ext cx="502920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Georgia"/>
              </a:rPr>
              <a:t>Type: Where can I find Coca-Cola?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02152"/>
            <a:ext cx="5029200" cy="6400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Watch the Wayfinding route card render — zone, aisle, distance,
turn-by-turn. This rides proposed Interface #15 (Azure Maps Creator).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16052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14800"/>
            <a:ext cx="502920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Georgia"/>
              </a:rPr>
              <a:t>Toggle a dietary chip (e.g. dairy-free)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62272"/>
            <a:ext cx="5029200" cy="6400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Then hold a dairy product up. The proactive associate fires a red
Dietary alert + suggests a compliant swap.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12064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074920"/>
            <a:ext cx="502920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Georgia"/>
              </a:rPr>
              <a:t>Add to cart, click a cart 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22392"/>
            <a:ext cx="5029200" cy="6400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Cart is client-authoritative; agent emits cart_actions in its reply.
Click a cart item → agent describes it in chat.</a:t>
            </a:r>
          </a:p>
        </p:txBody>
      </p:sp>
      <p:sp>
        <p:nvSpPr>
          <p:cNvPr id="20" name="Oval 19"/>
          <p:cNvSpPr/>
          <p:nvPr/>
        </p:nvSpPr>
        <p:spPr>
          <a:xfrm>
            <a:off x="6126480" y="224028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194560"/>
            <a:ext cx="502920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Georgia"/>
              </a:rPr>
              <a:t>Open /architecture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42032"/>
            <a:ext cx="5029200" cy="6400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12-section page. Hit “expand all” on the dependency tree (Section 3)
to walk customer→portal→orchestrator→Azure→devices.</a:t>
            </a:r>
          </a:p>
        </p:txBody>
      </p:sp>
      <p:sp>
        <p:nvSpPr>
          <p:cNvPr id="23" name="Oval 22"/>
          <p:cNvSpPr/>
          <p:nvPr/>
        </p:nvSpPr>
        <p:spPr>
          <a:xfrm>
            <a:off x="6126480" y="320040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154680"/>
            <a:ext cx="502920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Georgia"/>
              </a:rPr>
              <a:t>Click Details ⓘ on any Azure row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502152"/>
            <a:ext cx="5029200" cy="6400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Modal opens with host env, configuration, cost estimate, consumption
metrics. Proves it's real Azure, not a mockup.</a:t>
            </a:r>
          </a:p>
        </p:txBody>
      </p:sp>
      <p:sp>
        <p:nvSpPr>
          <p:cNvPr id="26" name="Oval 25"/>
          <p:cNvSpPr/>
          <p:nvPr/>
        </p:nvSpPr>
        <p:spPr>
          <a:xfrm>
            <a:off x="6126480" y="416052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114800"/>
            <a:ext cx="502920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Georgia"/>
              </a:rPr>
              <a:t>Show APEX Section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462272"/>
            <a:ext cx="5029200" cy="6400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12,649 lines of APEX framework code · 341 lines of CFMP glue ·
509 passing tests. That's why this shipped in weeks, not months.</a:t>
            </a:r>
          </a:p>
        </p:txBody>
      </p:sp>
      <p:sp>
        <p:nvSpPr>
          <p:cNvPr id="29" name="Oval 28"/>
          <p:cNvSpPr/>
          <p:nvPr/>
        </p:nvSpPr>
        <p:spPr>
          <a:xfrm>
            <a:off x="6126480" y="512064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074920"/>
            <a:ext cx="502920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Georgia"/>
              </a:rPr>
              <a:t>Toggle 🎓 Proactive — APEX tour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5422392"/>
            <a:ext cx="5029200" cy="6400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The agent cycles through 10 educational topics about Packs,
Virtual Views, CFMP — built-in conversation starter for clients.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800" b="0">
                <a:solidFill>
                  <a:srgbClr val="7D8590"/>
                </a:solidFill>
                <a:latin typeface="Calibri"/>
              </a:rPr>
              <a:t>Deloitte Microsoft Technology &amp; Services Practice (DMTSP) · APEX walkthrough · internal use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/>
            <a:r>
              <a:rPr sz="800" b="0">
                <a:solidFill>
                  <a:srgbClr val="7D8590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1E2761"/>
                </a:solidFill>
                <a:latin typeface="Georgia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"/>
            <a:ext cx="10058400" cy="50292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How to make it real — the engagement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5156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Five sellable tiers · each Pack ships three sub-tiers · stackable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777240" cy="8229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34440"/>
            <a:ext cx="530352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Georgia"/>
              </a:rPr>
              <a:t>APEX Platform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00200"/>
            <a:ext cx="5303520" cy="5029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0">
                <a:solidFill>
                  <a:srgbClr val="0D1117"/>
                </a:solidFill>
                <a:latin typeface="Calibri"/>
              </a:rPr>
              <a:t>VV runtime · LEDGER · 6-Agent Fleet · MCP auto-reg · Entra/Purview wiring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280160"/>
            <a:ext cx="2194560" cy="73152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950" b="0">
                <a:solidFill>
                  <a:srgbClr val="0D1117"/>
                </a:solidFill>
                <a:latin typeface="Calibri"/>
              </a:rPr>
              <a:t>Sold once per client tenant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28016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000" b="1">
                <a:solidFill>
                  <a:srgbClr val="CADCFC"/>
                </a:solidFill>
                <a:latin typeface="Calibri"/>
              </a:rPr>
              <a:t>$400K–$700K · 6–10 wks · BVA + DCIF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40280"/>
            <a:ext cx="777240" cy="822960"/>
          </a:xfrm>
          <a:prstGeom prst="roundRect">
            <a:avLst>
              <a:gd name="adj" fmla="val 15000"/>
            </a:avLst>
          </a:prstGeom>
          <a:solidFill>
            <a:srgbClr val="2E4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240280"/>
            <a:ext cx="530352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Georgia"/>
              </a:rPr>
              <a:t>Industry Pack (Lite / Standard / Enterprise)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06040"/>
            <a:ext cx="5303520" cy="5029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0">
                <a:solidFill>
                  <a:srgbClr val="0D1117"/>
                </a:solidFill>
                <a:latin typeface="Calibri"/>
              </a:rPr>
              <a:t>10-asset pack bundle — manifests, adapters, cards, BVA, SOW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286000"/>
            <a:ext cx="2194560" cy="73152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950" b="0">
                <a:solidFill>
                  <a:srgbClr val="0D1117"/>
                </a:solidFill>
                <a:latin typeface="Calibri"/>
              </a:rPr>
              <a:t>Sold per industry · 3 sub-tiers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28600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000" b="1">
                <a:solidFill>
                  <a:srgbClr val="CADCFC"/>
                </a:solidFill>
                <a:latin typeface="Calibri"/>
              </a:rPr>
              <a:t>$100K–$3.5M · 4 wks–9 mo · DCIF · T&amp;M · ISV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46120"/>
            <a:ext cx="777240" cy="822960"/>
          </a:xfrm>
          <a:prstGeom prst="roundRect">
            <a:avLst>
              <a:gd name="adj" fmla="val 15000"/>
            </a:avLst>
          </a:prstGeom>
          <a:solidFill>
            <a:srgbClr val="3E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46120"/>
            <a:ext cx="530352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Georgia"/>
              </a:rPr>
              <a:t>Scenario activation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611880"/>
            <a:ext cx="5303520" cy="5029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0">
                <a:solidFill>
                  <a:srgbClr val="0D1117"/>
                </a:solidFill>
                <a:latin typeface="Calibri"/>
              </a:rPr>
              <a:t>One named outcome (e.g. SOX PMO testing) live on the client's sources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3291840"/>
            <a:ext cx="2194560" cy="73152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950" b="0">
                <a:solidFill>
                  <a:srgbClr val="0D1117"/>
                </a:solidFill>
                <a:latin typeface="Calibri"/>
              </a:rPr>
              <a:t>Sold per business outcome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329184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000" b="1">
                <a:solidFill>
                  <a:srgbClr val="CADCFC"/>
                </a:solidFill>
                <a:latin typeface="Calibri"/>
              </a:rPr>
              <a:t>$150K–$400K · 4–8 wks · DCIF · T&amp;M · ISV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51960"/>
            <a:ext cx="777240" cy="822960"/>
          </a:xfrm>
          <a:prstGeom prst="roundRect">
            <a:avLst>
              <a:gd name="adj" fmla="val 15000"/>
            </a:avLst>
          </a:prstGeom>
          <a:solidFill>
            <a:srgbClr val="5E8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51960"/>
            <a:ext cx="530352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Georgia"/>
              </a:rPr>
              <a:t>Custom build (bespoke)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617720"/>
            <a:ext cx="5303520" cy="5029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0">
                <a:solidFill>
                  <a:srgbClr val="0D1117"/>
                </a:solidFill>
                <a:latin typeface="Calibri"/>
              </a:rPr>
              <a:t>New VV / new scenario · client-specific manifest added to their Pack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4297680"/>
            <a:ext cx="2194560" cy="73152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950" b="0">
                <a:solidFill>
                  <a:srgbClr val="0D1117"/>
                </a:solidFill>
                <a:latin typeface="Calibri"/>
              </a:rPr>
              <a:t>Sold as advisory + dev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429768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000" b="1">
                <a:solidFill>
                  <a:srgbClr val="CADCFC"/>
                </a:solidFill>
                <a:latin typeface="Calibri"/>
              </a:rPr>
              <a:t>T&amp;M · Sprints · Variable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257800"/>
            <a:ext cx="777240" cy="822960"/>
          </a:xfrm>
          <a:prstGeom prst="roundRect">
            <a:avLst>
              <a:gd name="adj" fmla="val 15000"/>
            </a:avLst>
          </a:prstGeom>
          <a:solidFill>
            <a:srgbClr val="7EA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257800"/>
            <a:ext cx="530352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Georgia"/>
              </a:rPr>
              <a:t>APEX Operate (managed service)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623560"/>
            <a:ext cx="5303520" cy="5029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0">
                <a:solidFill>
                  <a:srgbClr val="0D1117"/>
                </a:solidFill>
                <a:latin typeface="Calibri"/>
              </a:rPr>
              <a:t>24×7 monitoring · threshold tuning · Pack version uptake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5303520"/>
            <a:ext cx="2194560" cy="73152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950" b="0">
                <a:solidFill>
                  <a:srgbClr val="0D1117"/>
                </a:solidFill>
                <a:latin typeface="Calibri"/>
              </a:rPr>
              <a:t>Run-rate · steady state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530352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000" b="1">
                <a:solidFill>
                  <a:srgbClr val="CADCFC"/>
                </a:solidFill>
                <a:latin typeface="Calibri"/>
              </a:rPr>
              <a:t>$/mo subscription · Client direct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800" b="0">
                <a:solidFill>
                  <a:srgbClr val="7D8590"/>
                </a:solidFill>
                <a:latin typeface="Calibri"/>
              </a:rPr>
              <a:t>Deloitte Microsoft Technology &amp; Services Practice (DMTSP) · APEX walkthrough · internal use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/>
            <a:r>
              <a:rPr sz="800" b="0">
                <a:solidFill>
                  <a:srgbClr val="7D8590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1E2761"/>
                </a:solidFill>
                <a:latin typeface="Georgia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"/>
            <a:ext cx="10058400" cy="50292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Independence stance — non-negotiable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5156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Deloitte audits Microsoft. Funding paths MUST honor SEC independence.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EEF8EE"/>
          </a:solidFill>
          <a:ln w="9525">
            <a:solidFill>
              <a:srgbClr val="0A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212080" cy="4114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800" b="1">
                <a:solidFill>
                  <a:srgbClr val="0A6E3A"/>
                </a:solidFill>
                <a:latin typeface="Georgia"/>
              </a:rPr>
              <a:t>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5212080" cy="39319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200" b="0">
                <a:solidFill>
                  <a:srgbClr val="0D1117"/>
                </a:solidFill>
                <a:latin typeface="Calibri"/>
              </a:rPr>
              <a:t>•  BVA — client-funded discovery workshop</a:t>
            </a:r>
          </a:p>
          <a:p>
            <a:pPr algn="l"/>
            <a:r>
              <a:rPr sz="1200" b="0">
                <a:solidFill>
                  <a:srgbClr val="0D1117"/>
                </a:solidFill>
                <a:latin typeface="Calibri"/>
              </a:rPr>
              <a:t>•  DCIF — Deloitte co-invest fund</a:t>
            </a:r>
          </a:p>
          <a:p>
            <a:pPr algn="l"/>
            <a:r>
              <a:rPr sz="1200" b="0">
                <a:solidFill>
                  <a:srgbClr val="0D1117"/>
                </a:solidFill>
                <a:latin typeface="Calibri"/>
              </a:rPr>
              <a:t>•  ISV Marketplace burndown (Microsoft money flows via the Marketplace)</a:t>
            </a:r>
          </a:p>
          <a:p>
            <a:pPr algn="l"/>
            <a:r>
              <a:rPr sz="1200" b="0">
                <a:solidFill>
                  <a:srgbClr val="0D1117"/>
                </a:solidFill>
                <a:latin typeface="Calibri"/>
              </a:rPr>
              <a:t>•  SI Teaming POC (non-competing SI partner runs the POC)</a:t>
            </a:r>
          </a:p>
          <a:p>
            <a:pPr algn="l"/>
            <a:r>
              <a:rPr sz="1200" b="0">
                <a:solidFill>
                  <a:srgbClr val="0D1117"/>
                </a:solidFill>
                <a:latin typeface="Calibri"/>
              </a:rPr>
              <a:t>•  T&amp;M for Custom Build (T4) and Operate (T5)</a:t>
            </a:r>
          </a:p>
          <a:p>
            <a:pPr algn="l"/>
            <a:r>
              <a:rPr sz="1200" b="0">
                <a:solidFill>
                  <a:srgbClr val="0D1117"/>
                </a:solidFill>
                <a:latin typeface="Calibri"/>
              </a:rPr>
              <a:t>•  Client direct billing on Operate run-rate</a:t>
            </a:r>
          </a:p>
          <a:p>
            <a:pPr algn="l"/>
            <a:r>
              <a:rPr sz="1200" b="0">
                <a:solidFill>
                  <a:srgbClr val="0D1117"/>
                </a:solidFill>
                <a:latin typeface="Calibri"/>
              </a:rPr>
              <a:t>•  Use the language: “Deloitte's Microsoft practice” · “DMTSP”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8EEEE"/>
          </a:solidFill>
          <a:ln w="9525">
            <a:solidFill>
              <a:srgbClr val="A0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212080" cy="4114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800" b="1">
                <a:solidFill>
                  <a:srgbClr val="A03535"/>
                </a:solidFill>
                <a:latin typeface="Georgia"/>
              </a:rPr>
              <a:t>DO 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5212080" cy="39319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200" b="0">
                <a:solidFill>
                  <a:srgbClr val="0D1117"/>
                </a:solidFill>
                <a:latin typeface="Calibri"/>
              </a:rPr>
              <a:t>•  Route ECIF (Microsoft client funding) through Deloitte directly</a:t>
            </a:r>
          </a:p>
          <a:p>
            <a:pPr algn="l"/>
            <a:r>
              <a:rPr sz="1200" b="0">
                <a:solidFill>
                  <a:srgbClr val="0D1117"/>
                </a:solidFill>
                <a:latin typeface="Calibri"/>
              </a:rPr>
              <a:t>•  Imply joint Microsoft + Deloitte commercial entity</a:t>
            </a:r>
          </a:p>
          <a:p>
            <a:pPr algn="l"/>
            <a:r>
              <a:rPr sz="1200" b="0">
                <a:solidFill>
                  <a:srgbClr val="0D1117"/>
                </a:solidFill>
                <a:latin typeface="Calibri"/>
              </a:rPr>
              <a:t>•  Say “partner” or “alliance” in client conversation</a:t>
            </a:r>
          </a:p>
          <a:p>
            <a:pPr algn="l"/>
            <a:r>
              <a:rPr sz="1200" b="0">
                <a:solidFill>
                  <a:srgbClr val="0D1117"/>
                </a:solidFill>
                <a:latin typeface="Calibri"/>
              </a:rPr>
              <a:t>•  Describe APEX as a Microsoft co-sell product</a:t>
            </a:r>
          </a:p>
          <a:p>
            <a:pPr algn="l"/>
            <a:r>
              <a:rPr sz="1200" b="0">
                <a:solidFill>
                  <a:srgbClr val="0D1117"/>
                </a:solidFill>
                <a:latin typeface="Calibri"/>
              </a:rPr>
              <a:t>•  Take Microsoft co-sell credit for Deloitte engagements</a:t>
            </a:r>
          </a:p>
          <a:p>
            <a:pPr algn="l"/>
            <a:r>
              <a:rPr sz="1200" b="0">
                <a:solidFill>
                  <a:srgbClr val="0D1117"/>
                </a:solidFill>
                <a:latin typeface="Calibri"/>
              </a:rPr>
              <a:t>•  Forget the independence language discipline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1115568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ctr"/>
            <a:r>
              <a:rPr sz="1100" b="0">
                <a:solidFill>
                  <a:srgbClr val="7D8590"/>
                </a:solidFill>
                <a:latin typeface="Calibri"/>
              </a:rPr>
              <a:t>APEX-G and APEX-A have no independence wrinkle — Deloitte does not audit Google or AWS.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800" b="0">
                <a:solidFill>
                  <a:srgbClr val="7D8590"/>
                </a:solidFill>
                <a:latin typeface="Calibri"/>
              </a:rPr>
              <a:t>Deloitte Microsoft Technology &amp; Services Practice (DMTSP) · APEX walkthrough · internal use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/>
            <a:r>
              <a:rPr sz="800" b="0">
                <a:solidFill>
                  <a:srgbClr val="7D8590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1E2761"/>
                </a:solidFill>
                <a:latin typeface="Georgia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"/>
            <a:ext cx="10058400" cy="50292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What we DO and DO NOT sell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5156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The single most important framing — repeat it every meeting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92840" cy="1645920"/>
          </a:xfrm>
          <a:prstGeom prst="roundRect">
            <a:avLst>
              <a:gd name="adj" fmla="val 8000"/>
            </a:avLst>
          </a:prstGeom>
          <a:solidFill>
            <a:srgbClr val="F8EEEE"/>
          </a:solidFill>
          <a:ln w="9525">
            <a:solidFill>
              <a:srgbClr val="A0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2000" b="1">
                <a:solidFill>
                  <a:srgbClr val="A03535"/>
                </a:solidFill>
                <a:latin typeface="Georgia"/>
              </a:rPr>
              <a:t>❌  APEX is NOT a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881360" cy="10058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200" b="0">
                <a:solidFill>
                  <a:srgbClr val="0D1117"/>
                </a:solidFill>
                <a:latin typeface="Calibri"/>
              </a:rPr>
              <a:t>•  Not a SKU, not a license, not a subscription a client can buy</a:t>
            </a:r>
          </a:p>
          <a:p>
            <a:pPr algn="l"/>
            <a:r>
              <a:rPr sz="1200" b="0">
                <a:solidFill>
                  <a:srgbClr val="0D1117"/>
                </a:solidFill>
                <a:latin typeface="Calibri"/>
              </a:rPr>
              <a:t>•  Not co-branded with Microsoft / Google / Amazon</a:t>
            </a:r>
          </a:p>
          <a:p>
            <a:pPr algn="l"/>
            <a:r>
              <a:rPr sz="1200" b="0">
                <a:solidFill>
                  <a:srgbClr val="0D1117"/>
                </a:solidFill>
                <a:latin typeface="Calibri"/>
              </a:rPr>
              <a:t>•  Not sold on Azure Marketplace as “APEX” (Pack-specific ISV listings are different — those carry the burndown)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11292840" cy="2926080"/>
          </a:xfrm>
          <a:prstGeom prst="roundRect">
            <a:avLst>
              <a:gd name="adj" fmla="val 8000"/>
            </a:avLst>
          </a:prstGeom>
          <a:solidFill>
            <a:srgbClr val="EEF8EE"/>
          </a:solidFill>
          <a:ln w="9525">
            <a:solidFill>
              <a:srgbClr val="0A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10881360" cy="4572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2000" b="1">
                <a:solidFill>
                  <a:srgbClr val="0A6E3A"/>
                </a:solidFill>
                <a:latin typeface="Georgia"/>
              </a:rPr>
              <a:t>✅  APEX IS Deloitte's agentic-AI delivery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10881360" cy="21945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250" b="0">
                <a:solidFill>
                  <a:srgbClr val="0D1117"/>
                </a:solidFill>
                <a:latin typeface="Calibri"/>
              </a:rPr>
              <a:t>•  An engagement layer that turns cloud-vendor runtimes into Deloitte deliveries that are billable, audit-defensible, and repeatable.</a:t>
            </a:r>
          </a:p>
          <a:p>
            <a:pPr algn="l"/>
            <a:r>
              <a:rPr sz="1250" b="0">
                <a:solidFill>
                  <a:srgbClr val="0D1117"/>
                </a:solidFill>
                <a:latin typeface="Calibri"/>
              </a:rPr>
              <a:t>•  What we sell is Deloitte AGENTIC-AI DELIVERY SERVICES on the APEX framework — scoped per Industry Pack, per Service Envelope tier.</a:t>
            </a:r>
          </a:p>
          <a:p>
            <a:pPr algn="l"/>
            <a:r>
              <a:rPr sz="1250" b="0">
                <a:solidFill>
                  <a:srgbClr val="0D1117"/>
                </a:solidFill>
                <a:latin typeface="Calibri"/>
              </a:rPr>
              <a:t>•  Client engagement signs an SOW for a specific Pack at a specific sub-tier (e.g., CFMP Lite at $150K–$250K, 4–6 wks).</a:t>
            </a:r>
          </a:p>
          <a:p>
            <a:pPr algn="l"/>
            <a:r>
              <a:rPr sz="1250" b="0">
                <a:solidFill>
                  <a:srgbClr val="0D1117"/>
                </a:solidFill>
                <a:latin typeface="Calibri"/>
              </a:rPr>
              <a:t>•  All the framework code (Core, Profiles, Packs) is Deloitte IP — never licensed out to clients, never sold standalone.</a:t>
            </a:r>
          </a:p>
          <a:p>
            <a:pPr algn="l"/>
            <a:r>
              <a:rPr sz="1250" b="0">
                <a:solidFill>
                  <a:srgbClr val="0D1117"/>
                </a:solidFill>
                <a:latin typeface="Calibri"/>
              </a:rPr>
              <a:t>•  When clients ask “Can I have APEX?” the answer is: “You can engage Deloitte to deliver an APEX-based solution. Here's what that looks like…”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800" b="0">
                <a:solidFill>
                  <a:srgbClr val="7D8590"/>
                </a:solidFill>
                <a:latin typeface="Calibri"/>
              </a:rPr>
              <a:t>Deloitte Microsoft Technology &amp; Services Practice (DMTSP) · APEX walkthrough · internal use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/>
            <a:r>
              <a:rPr sz="800" b="0">
                <a:solidFill>
                  <a:srgbClr val="7D8590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1E2761"/>
                </a:solidFill>
                <a:latin typeface="Georgia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"/>
            <a:ext cx="10058400" cy="50292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The standard wedge — BVA → Pack 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5156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How every CFMP-style engagement actually starts</a:t>
            </a:r>
          </a:p>
        </p:txBody>
      </p:sp>
      <p:sp>
        <p:nvSpPr>
          <p:cNvPr id="6" name="Oval 5"/>
          <p:cNvSpPr/>
          <p:nvPr/>
        </p:nvSpPr>
        <p:spPr>
          <a:xfrm>
            <a:off x="1280160" y="13258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920240"/>
            <a:ext cx="2240280" cy="457200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920240"/>
            <a:ext cx="2240280" cy="5029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300" b="1">
                <a:solidFill>
                  <a:srgbClr val="CADCFC"/>
                </a:solidFill>
                <a:latin typeface="Calibri"/>
              </a:rPr>
              <a:t>BVA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1965960" cy="5029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Georgia"/>
              </a:rPr>
              <a:t>Discovery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196596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0">
                <a:solidFill>
                  <a:srgbClr val="7D8590"/>
                </a:solidFill>
                <a:latin typeface="Calibri"/>
              </a:rPr>
              <a:t>⏱  4 hours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1965960" cy="5029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900" b="1">
                <a:solidFill>
                  <a:srgbClr val="CADCFC"/>
                </a:solidFill>
                <a:latin typeface="Calibri"/>
              </a:rPr>
              <a:t>Client-funded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1965960" cy="23774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Scenario shortlist · stakeholder + persona map · pilot SOW skeleton ready</a:t>
            </a:r>
          </a:p>
        </p:txBody>
      </p:sp>
      <p:sp>
        <p:nvSpPr>
          <p:cNvPr id="13" name="Oval 12"/>
          <p:cNvSpPr/>
          <p:nvPr/>
        </p:nvSpPr>
        <p:spPr>
          <a:xfrm>
            <a:off x="3611880" y="13258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920240"/>
            <a:ext cx="2240280" cy="457200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43200" y="1920240"/>
            <a:ext cx="2240280" cy="5029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300" b="1">
                <a:solidFill>
                  <a:srgbClr val="CADCFC"/>
                </a:solidFill>
                <a:latin typeface="Calibri"/>
              </a:rPr>
              <a:t>Pack 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514600"/>
            <a:ext cx="1965960" cy="5029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Georgia"/>
              </a:rPr>
              <a:t>Pilot — 3 scenarios + wayfinding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017520"/>
            <a:ext cx="196596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0">
                <a:solidFill>
                  <a:srgbClr val="7D8590"/>
                </a:solidFill>
                <a:latin typeface="Calibri"/>
              </a:rPr>
              <a:t>⏱  4–6 wks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0360" y="3383280"/>
            <a:ext cx="1965960" cy="5029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900" b="1">
                <a:solidFill>
                  <a:srgbClr val="CADCFC"/>
                </a:solidFill>
                <a:latin typeface="Calibri"/>
              </a:rPr>
              <a:t>$150K–$250K · BVA + DCIF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023360"/>
            <a:ext cx="1965960" cy="23774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1 sub-domain of VVs live · LEDGER + replay proven on client data · ready for Standard</a:t>
            </a:r>
          </a:p>
        </p:txBody>
      </p:sp>
      <p:sp>
        <p:nvSpPr>
          <p:cNvPr id="20" name="Oval 19"/>
          <p:cNvSpPr/>
          <p:nvPr/>
        </p:nvSpPr>
        <p:spPr>
          <a:xfrm>
            <a:off x="5943600" y="13258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1920240"/>
            <a:ext cx="2240280" cy="457200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74920" y="1920240"/>
            <a:ext cx="2240280" cy="5029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300" b="1">
                <a:solidFill>
                  <a:srgbClr val="CADCFC"/>
                </a:solidFill>
                <a:latin typeface="Calibri"/>
              </a:rPr>
              <a:t>Pack Standard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514600"/>
            <a:ext cx="1965960" cy="5029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Georgia"/>
              </a:rPr>
              <a:t>First production rollout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017520"/>
            <a:ext cx="196596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0">
                <a:solidFill>
                  <a:srgbClr val="7D8590"/>
                </a:solidFill>
                <a:latin typeface="Calibri"/>
              </a:rPr>
              <a:t>⏱  12–16 wks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80" y="3383280"/>
            <a:ext cx="1965960" cy="5029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900" b="1">
                <a:solidFill>
                  <a:srgbClr val="CADCFC"/>
                </a:solidFill>
                <a:latin typeface="Calibri"/>
              </a:rPr>
              <a:t>$500K–$1.5M · DCIF + ISV burndown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4023360"/>
            <a:ext cx="1965960" cy="23774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All 6 agents wired · operate-readiness assessment · pilot SOW → production</a:t>
            </a:r>
          </a:p>
        </p:txBody>
      </p:sp>
      <p:sp>
        <p:nvSpPr>
          <p:cNvPr id="27" name="Oval 26"/>
          <p:cNvSpPr/>
          <p:nvPr/>
        </p:nvSpPr>
        <p:spPr>
          <a:xfrm>
            <a:off x="8275320" y="13258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1920240"/>
            <a:ext cx="2240280" cy="457200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06640" y="1920240"/>
            <a:ext cx="2240280" cy="5029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300" b="1">
                <a:solidFill>
                  <a:srgbClr val="CADCFC"/>
                </a:solidFill>
                <a:latin typeface="Calibri"/>
              </a:rPr>
              <a:t>Pack Enterprise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2514600"/>
            <a:ext cx="1965960" cy="5029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Georgia"/>
              </a:rPr>
              <a:t>Full chain + Operate-ready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3017520"/>
            <a:ext cx="196596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0">
                <a:solidFill>
                  <a:srgbClr val="7D8590"/>
                </a:solidFill>
                <a:latin typeface="Calibri"/>
              </a:rPr>
              <a:t>⏱  6–9 mo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3383280"/>
            <a:ext cx="1965960" cy="5029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900" b="1">
                <a:solidFill>
                  <a:srgbClr val="CADCFC"/>
                </a:solidFill>
                <a:latin typeface="Calibri"/>
              </a:rPr>
              <a:t>$1.5M–$3.5M · Client direct + T&amp;M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4023360"/>
            <a:ext cx="1965960" cy="23774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Complete VV catalog · all scenarios · threshold tuning + DataOps embedded</a:t>
            </a:r>
          </a:p>
        </p:txBody>
      </p:sp>
      <p:sp>
        <p:nvSpPr>
          <p:cNvPr id="34" name="Oval 33"/>
          <p:cNvSpPr/>
          <p:nvPr/>
        </p:nvSpPr>
        <p:spPr>
          <a:xfrm>
            <a:off x="10607039" y="13258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38359" y="1920240"/>
            <a:ext cx="2240280" cy="457200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38359" y="1920240"/>
            <a:ext cx="2240280" cy="5029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300" b="1">
                <a:solidFill>
                  <a:srgbClr val="CADCFC"/>
                </a:solidFill>
                <a:latin typeface="Calibri"/>
              </a:rPr>
              <a:t>Operate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19" y="2514600"/>
            <a:ext cx="1965960" cy="50292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Georgia"/>
              </a:rPr>
              <a:t>Run-rate managed service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19" y="3017520"/>
            <a:ext cx="196596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0">
                <a:solidFill>
                  <a:srgbClr val="7D8590"/>
                </a:solidFill>
                <a:latin typeface="Calibri"/>
              </a:rPr>
              <a:t>⏱  Continuous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75519" y="3383280"/>
            <a:ext cx="1965960" cy="5029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900" b="1">
                <a:solidFill>
                  <a:srgbClr val="CADCFC"/>
                </a:solidFill>
                <a:latin typeface="Calibri"/>
              </a:rPr>
              <a:t>$/mo · Client direct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19" y="4023360"/>
            <a:ext cx="1965960" cy="23774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950" b="0">
                <a:solidFill>
                  <a:srgbClr val="0D1117"/>
                </a:solidFill>
                <a:latin typeface="Calibri"/>
              </a:rPr>
              <a:t>24×7 monitoring · threshold tuning · Pack version uptake · steady-state revenue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263640"/>
            <a:ext cx="1143000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ctr"/>
            <a:r>
              <a:rPr sz="1100" b="0">
                <a:solidFill>
                  <a:srgbClr val="7D8590"/>
                </a:solidFill>
                <a:latin typeface="Calibri"/>
              </a:rPr>
              <a:t>Each tier is additive — Standard contains Lite, Enterprise contains Standard. No client ever pays to redo earlier work.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800" b="0">
                <a:solidFill>
                  <a:srgbClr val="7D8590"/>
                </a:solidFill>
                <a:latin typeface="Calibri"/>
              </a:rPr>
              <a:t>Deloitte Microsoft Technology &amp; Services Practice (DMTSP) · APEX walkthrough · internal use only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/>
            <a:r>
              <a:rPr sz="800" b="0">
                <a:solidFill>
                  <a:srgbClr val="7D8590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1E2761"/>
                </a:solidFill>
                <a:latin typeface="Georgia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"/>
            <a:ext cx="10058400" cy="50292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Client questions you will hear — answers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5156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Memorize these for the first 10 minutes of every conversation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92840" cy="77724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35024"/>
            <a:ext cx="548640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50" b="1">
                <a:solidFill>
                  <a:srgbClr val="1E2761"/>
                </a:solidFill>
                <a:latin typeface="Georgia"/>
              </a:rPr>
              <a:t>“Is this Microsoft's product?”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0">
                <a:solidFill>
                  <a:srgbClr val="0D1117"/>
                </a:solidFill>
                <a:latin typeface="Calibri"/>
              </a:rPr>
              <a:t>No — APEX is Deloitte's delivery framework. We use Foundry as the underlying runtime, but the engagement layer on top is Deloitte 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11292840" cy="77724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76272"/>
            <a:ext cx="548640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50" b="1">
                <a:solidFill>
                  <a:srgbClr val="1E2761"/>
                </a:solidFill>
                <a:latin typeface="Georgia"/>
              </a:rPr>
              <a:t>“Can we buy APEX?”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87168"/>
            <a:ext cx="10881360" cy="4572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0">
                <a:solidFill>
                  <a:srgbClr val="0D1117"/>
                </a:solidFill>
                <a:latin typeface="Calibri"/>
              </a:rPr>
              <a:t>You engage Deloitte for an APEX-based delivery. We scope an Industry Pack at the right sub-tier (Lite / Standard / Enterprise) and sign an SOW. The framework itself isn't licensed.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62656"/>
            <a:ext cx="11292840" cy="77724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50" b="1">
                <a:solidFill>
                  <a:srgbClr val="1E2761"/>
                </a:solidFill>
                <a:latin typeface="Georgia"/>
              </a:rPr>
              <a:t>“How is this different from what I'd build on Foundry?”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28416"/>
            <a:ext cx="10881360" cy="4572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0">
                <a:solidFill>
                  <a:srgbClr val="0D1117"/>
                </a:solidFill>
                <a:latin typeface="Calibri"/>
              </a:rPr>
              <a:t>Foundry ships the agent runtime. We ship the engagement layer: 10-asset Industry Packs, WORM LEDGER, reasoning-trace + replay, persona/HITL plumbing, three cloud profiles. 12,649 lines of vetted Deloitte IP.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03904"/>
            <a:ext cx="11292840" cy="77724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58768"/>
            <a:ext cx="548640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50" b="1">
                <a:solidFill>
                  <a:srgbClr val="1E2761"/>
                </a:solidFill>
                <a:latin typeface="Georgia"/>
              </a:rPr>
              <a:t>“What if we're on AWS / Google?”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9664"/>
            <a:ext cx="10881360" cy="4572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0">
                <a:solidFill>
                  <a:srgbClr val="0D1117"/>
                </a:solidFill>
                <a:latin typeface="Calibri"/>
              </a:rPr>
              <a:t>Same Packs, same Core, different profile. APEX-G uses Vertex; APEX-A uses Bedrock. Replatforming a Pack is a config change — manifests, agent code, LEDGER schema all unchanged.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645152"/>
            <a:ext cx="11292840" cy="77724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00016"/>
            <a:ext cx="548640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50" b="1">
                <a:solidFill>
                  <a:srgbClr val="1E2761"/>
                </a:solidFill>
                <a:latin typeface="Georgia"/>
              </a:rPr>
              <a:t>“How fast can we see something working?”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10912"/>
            <a:ext cx="10881360" cy="4572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0">
                <a:solidFill>
                  <a:srgbClr val="0D1117"/>
                </a:solidFill>
                <a:latin typeface="Calibri"/>
              </a:rPr>
              <a:t>BVA workshop in week one. Pack Lite live in 4-6 weeks with one sub-domain of Virtual Views on your data. The demo you just saw runs that exact path.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486400"/>
            <a:ext cx="11292840" cy="77724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541264"/>
            <a:ext cx="5486400" cy="36576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150" b="1">
                <a:solidFill>
                  <a:srgbClr val="1E2761"/>
                </a:solidFill>
                <a:latin typeface="Georgia"/>
              </a:rPr>
              <a:t>“What does the audit story actually look like?”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000" b="0">
                <a:solidFill>
                  <a:srgbClr val="0D1117"/>
                </a:solidFill>
                <a:latin typeface="Calibri"/>
              </a:rPr>
              <a:t>Every decision an agent makes lands a 14-field hash-chained LedgerRow. Every step has a reasoning-trace. Any decision can be replayed against the original Bronze snapshot — byte-identical. No cloud vendor ships this.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800" b="0">
                <a:solidFill>
                  <a:srgbClr val="7D8590"/>
                </a:solidFill>
                <a:latin typeface="Calibri"/>
              </a:rPr>
              <a:t>Deloitte Microsoft Technology &amp; Services Practice (DMTSP) · APEX walkthrough · internal use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/>
            <a:r>
              <a:rPr sz="800" b="0">
                <a:solidFill>
                  <a:srgbClr val="7D8590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37160" cy="18288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6400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3600" b="1">
                <a:solidFill>
                  <a:srgbClr val="CADCFC"/>
                </a:solidFill>
                <a:latin typeface="Georgia"/>
              </a:rPr>
              <a:t>What to do 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058400" cy="4572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Three concrete next steps for every DMTSP seller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822960" cy="100584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3600" b="1">
                <a:solidFill>
                  <a:srgbClr val="1E2761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94560"/>
            <a:ext cx="6858000" cy="4572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orgia"/>
              </a:rPr>
              <a:t>Open the live demo with one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606040"/>
            <a:ext cx="6858000" cy="6400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Use the architecture URL above. Walk the 8-step path on slide 9.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2377440"/>
            <a:ext cx="2834640" cy="640080"/>
          </a:xfrm>
          <a:prstGeom prst="roundRect">
            <a:avLst>
              <a:gd name="adj" fmla="val 15000"/>
            </a:avLst>
          </a:prstGeom>
          <a:solidFill>
            <a:srgbClr val="14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000" b="0">
                <a:solidFill>
                  <a:srgbClr val="CADCFC"/>
                </a:solidFill>
                <a:latin typeface="Calibri"/>
              </a:rPr>
              <a:t>60 minutes · low effort · one meeting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74720"/>
            <a:ext cx="822960" cy="100584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3600" b="1">
                <a:solidFill>
                  <a:srgbClr val="1E2761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474720"/>
            <a:ext cx="6858000" cy="4572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orgia"/>
              </a:rPr>
              <a:t>Stand up a BVA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86200"/>
            <a:ext cx="6858000" cy="6400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Pick the pack (CFMP for retail customer-side, Manufacturing for OEE,
Risk for SOX, etc.) and book 4 hours. BVA is client-funded.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3657600"/>
            <a:ext cx="2834640" cy="640080"/>
          </a:xfrm>
          <a:prstGeom prst="roundRect">
            <a:avLst>
              <a:gd name="adj" fmla="val 15000"/>
            </a:avLst>
          </a:prstGeom>
          <a:solidFill>
            <a:srgbClr val="14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000" b="0">
                <a:solidFill>
                  <a:srgbClr val="CADCFC"/>
                </a:solidFill>
                <a:latin typeface="Calibri"/>
              </a:rPr>
              <a:t>Week 1-2 · zero Deloitte cost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54880"/>
            <a:ext cx="822960" cy="100584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3600" b="1">
                <a:solidFill>
                  <a:srgbClr val="1E2761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754880"/>
            <a:ext cx="6858000" cy="4572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orgia"/>
              </a:rPr>
              <a:t>Convert into a Pack Lite SOW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166360"/>
            <a:ext cx="6858000" cy="64008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BVA → scenario shortlist → 1 demo VV on client data → Pack Lite
($150K-$250K · 4-6 wks · BVA + DCIF). That's the wedge.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4937760"/>
            <a:ext cx="2834640" cy="640080"/>
          </a:xfrm>
          <a:prstGeom prst="roundRect">
            <a:avLst>
              <a:gd name="adj" fmla="val 15000"/>
            </a:avLst>
          </a:prstGeom>
          <a:solidFill>
            <a:srgbClr val="14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000" b="0">
                <a:solidFill>
                  <a:srgbClr val="CADCFC"/>
                </a:solidFill>
                <a:latin typeface="Calibri"/>
              </a:rPr>
              <a:t>Week 3-4 · DCIF approval · SOW signed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172200"/>
            <a:ext cx="11292840" cy="502920"/>
          </a:xfrm>
          <a:prstGeom prst="roundRect">
            <a:avLst>
              <a:gd name="adj" fmla="val 10000"/>
            </a:avLst>
          </a:prstGeom>
          <a:solidFill>
            <a:srgbClr val="14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4000" bIns="54000"/>
          <a:lstStyle/>
          <a:p>
            <a:pPr algn="ctr"/>
            <a:r>
              <a:rPr sz="1200" b="1">
                <a:solidFill>
                  <a:srgbClr val="CADCFC"/>
                </a:solidFill>
                <a:latin typeface="Calibri"/>
              </a:rPr>
              <a:t>Live demo · ca-visionkit-portal.gentlestone-9b49b099.eastus2.azurecontainerapps.io/architecture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
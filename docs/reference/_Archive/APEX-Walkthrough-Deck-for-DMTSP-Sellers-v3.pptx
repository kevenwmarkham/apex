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34440"/>
            <a:ext cx="12191695" cy="2057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66160"/>
            <a:ext cx="11734495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251960"/>
            <a:ext cx="11734495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“modern retail store interior, customer using smartphone, warm light, wide angle”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46520"/>
            <a:ext cx="11734495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Half-bleed; subtle dark gradient overlay (Format Picture → 50% dark transparency) before placing the title.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7772400" cy="2743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114800"/>
            <a:ext cx="182880" cy="2743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343400"/>
            <a:ext cx="73152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APEX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66360"/>
            <a:ext cx="73152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Deloitte's agentic-AI delivery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69280"/>
            <a:ext cx="73152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Walkthrough for DMTSP  ·  what it is · how to demo · how to 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000" b="1" i="0">
                <a:solidFill>
                  <a:srgbClr val="86BC25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34440"/>
            <a:ext cx="5943600" cy="2057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66160"/>
            <a:ext cx="54864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251960"/>
            <a:ext cx="548640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“executive boardroom, two people in conversation, neutral light, candid”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46520"/>
            <a:ext cx="54864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(half-bleed left)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5720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0" b="1" i="0">
                <a:solidFill>
                  <a:srgbClr val="86BC25"/>
                </a:solidFill>
                <a:latin typeface="Calibri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486400" cy="20116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400" b="1" i="0">
                <a:solidFill>
                  <a:srgbClr val="1A1F2E"/>
                </a:solidFill>
                <a:latin typeface="Calibri"/>
              </a:rPr>
              <a:t>The engagement layer</a:t>
            </a:r>
          </a:p>
          <a:p>
            <a:pPr algn="l"/>
            <a:r>
              <a:rPr sz="3400" b="1" i="0">
                <a:solidFill>
                  <a:srgbClr val="1A1F2E"/>
                </a:solidFill>
                <a:latin typeface="Calibri"/>
              </a:rPr>
              <a:t>cloud vendors don't 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9144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400" b="0" i="1">
                <a:solidFill>
                  <a:srgbClr val="475569"/>
                </a:solidFill>
                <a:latin typeface="Calibri"/>
              </a:rPr>
              <a:t>APEX  in  one  sentence.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Without APEX  /  With 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Same Foundry runtime. Different deal shape.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77840" cy="4206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20163"/>
            <a:ext cx="5577840" cy="12618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0284"/>
            <a:ext cx="512064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70908"/>
            <a:ext cx="51206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“single developer at messy desk surrounded by code, looks tired, dim light”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57800"/>
            <a:ext cx="512064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(without APEX)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486400" cy="4206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220163"/>
            <a:ext cx="5486400" cy="12618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50284"/>
            <a:ext cx="50292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070908"/>
            <a:ext cx="502920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“confident team presenting architecture to executive, bright modern office”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57800"/>
            <a:ext cx="50292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(with APEX)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8064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806440"/>
            <a:ext cx="17830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STAFF AUG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58064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5806440"/>
            <a:ext cx="17830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BESPOKE DISCOVERY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8064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5806440"/>
            <a:ext cx="17830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MARGIN COMPRESSION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58064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806440"/>
            <a:ext cx="17830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FIXED-FEE PACKS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59" y="58064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5806440"/>
            <a:ext cx="17830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WORM LEDGER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580644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5806440"/>
            <a:ext cx="178308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REPEATABLE MOTION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Five pieces. Every APEX engagement.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Core · Profiles · Packs · Envelopes · LEDGER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2402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2402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240280" cy="18288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600" b="0" i="0">
                <a:solidFill>
                  <a:srgbClr val="1A1F2E"/>
                </a:solidFill>
                <a:latin typeface="Calibri"/>
              </a:rPr>
              <a:t>🏛️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22402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224028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83480"/>
            <a:ext cx="224028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Cloud-neutral runtime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1737360"/>
            <a:ext cx="22402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737360"/>
            <a:ext cx="22402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194560"/>
            <a:ext cx="2240280" cy="18288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600" b="0" i="0">
                <a:solidFill>
                  <a:srgbClr val="1A1F2E"/>
                </a:solidFill>
                <a:latin typeface="Calibri"/>
              </a:rP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160520"/>
            <a:ext cx="22402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480560"/>
            <a:ext cx="224028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983480"/>
            <a:ext cx="224028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M  /  G  /  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737360"/>
            <a:ext cx="22402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1737360"/>
            <a:ext cx="22402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194560"/>
            <a:ext cx="2240280" cy="18288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600" b="0" i="0">
                <a:solidFill>
                  <a:srgbClr val="1A1F2E"/>
                </a:solidFill>
                <a:latin typeface="Calibri"/>
              </a:rPr>
              <a:t>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160520"/>
            <a:ext cx="22402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480560"/>
            <a:ext cx="224028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PACKS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983480"/>
            <a:ext cx="224028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7 in the catalog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52360" y="1737360"/>
            <a:ext cx="22402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52360" y="1737360"/>
            <a:ext cx="22402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194560"/>
            <a:ext cx="2240280" cy="18288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600" b="0" i="0">
                <a:solidFill>
                  <a:srgbClr val="1A1F2E"/>
                </a:solidFill>
                <a:latin typeface="Calibri"/>
              </a:rPr>
              <a:t>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160520"/>
            <a:ext cx="22402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86BC25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480560"/>
            <a:ext cx="224028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ENVELOPES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4983480"/>
            <a:ext cx="224028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5 sellable tiers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1737360"/>
            <a:ext cx="224028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1737360"/>
            <a:ext cx="22402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194560"/>
            <a:ext cx="2240280" cy="18288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600" b="0" i="0">
                <a:solidFill>
                  <a:srgbClr val="1A1F2E"/>
                </a:solidFill>
                <a:latin typeface="Calibri"/>
              </a:rPr>
              <a:t>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160520"/>
            <a:ext cx="2240280" cy="292608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86BC25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480560"/>
            <a:ext cx="224028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LEDGER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983480"/>
            <a:ext cx="224028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WORM hash chain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Same core. Different cloud.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Three implementations of one 14-interface contract.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3703320" cy="2743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3703320" cy="8229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63824"/>
            <a:ext cx="32461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38144"/>
            <a:ext cx="32461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“data center, blue lighting, server racks”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2628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26280"/>
            <a:ext cx="3703320" cy="3657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26280"/>
            <a:ext cx="37033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APEX-M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37033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MICROSOFT  /  AZURE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49240"/>
            <a:ext cx="1874520" cy="32004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49240"/>
            <a:ext cx="1874520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737360"/>
            <a:ext cx="3703320" cy="2743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231136"/>
            <a:ext cx="3703320" cy="8229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63824"/>
            <a:ext cx="32461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38144"/>
            <a:ext cx="32461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“modern Google-style office, glass walls, daylight”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52628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4526280"/>
            <a:ext cx="3703320" cy="36576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4526280"/>
            <a:ext cx="37033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APEX-G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937760"/>
            <a:ext cx="37033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GOOGLE  /  GCP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5349240"/>
            <a:ext cx="1874520" cy="320040"/>
          </a:xfrm>
          <a:prstGeom prst="roundRect">
            <a:avLst>
              <a:gd name="adj" fmla="val 50000"/>
            </a:avLst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5349240"/>
            <a:ext cx="1874520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BETA Q3 FY27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737360"/>
            <a:ext cx="3703320" cy="2743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231136"/>
            <a:ext cx="3703320" cy="8229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163824"/>
            <a:ext cx="32461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438144"/>
            <a:ext cx="32461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“industrial-scale data center, orange accents”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526280"/>
            <a:ext cx="37033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526280"/>
            <a:ext cx="3703320" cy="3657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526280"/>
            <a:ext cx="37033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APEX-A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937760"/>
            <a:ext cx="370332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200" b="0" i="0">
                <a:solidFill>
                  <a:srgbClr val="475569"/>
                </a:solidFill>
                <a:latin typeface="Calibri"/>
              </a:rPr>
              <a:t>AMAZON  /  AWS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5349240"/>
            <a:ext cx="1874520" cy="32004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5349240"/>
            <a:ext cx="1874520" cy="3200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BETA Q4 FY27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Seven Industry Packs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Same 10-asset bundle. Different industry per Pack.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78892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66544"/>
            <a:ext cx="278892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88336"/>
            <a:ext cx="23317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871216"/>
            <a:ext cx="23317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“factory floor, production line, workers in safety gear”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611880"/>
            <a:ext cx="2788920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611880"/>
            <a:ext cx="27889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Manufacturing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737360"/>
            <a:ext cx="278892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066544"/>
            <a:ext cx="278892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88336"/>
            <a:ext cx="23317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871216"/>
            <a:ext cx="23317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“store merchandiser checking planogram with tablet”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611880"/>
            <a:ext cx="2788920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611880"/>
            <a:ext cx="27889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Retail Merch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737360"/>
            <a:ext cx="278892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066544"/>
            <a:ext cx="278892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88336"/>
            <a:ext cx="23317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71216"/>
            <a:ext cx="23317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“trading desk, multiple monitors with charts”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611880"/>
            <a:ext cx="2788920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611880"/>
            <a:ext cx="27889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737360"/>
            <a:ext cx="278892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2066544"/>
            <a:ext cx="278892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688336"/>
            <a:ext cx="23317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871216"/>
            <a:ext cx="23317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“audit professional with documents, neutral office”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3611880"/>
            <a:ext cx="2788920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3611880"/>
            <a:ext cx="27889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Risk &amp; 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69080"/>
            <a:ext cx="278892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398264"/>
            <a:ext cx="278892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020056"/>
            <a:ext cx="23317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202936"/>
            <a:ext cx="23317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“call center agent with headset, warm light”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943600"/>
            <a:ext cx="2788920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943600"/>
            <a:ext cx="27889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Customer Experience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4069080"/>
            <a:ext cx="278892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46120" y="4398264"/>
            <a:ext cx="278892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020056"/>
            <a:ext cx="23317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202936"/>
            <a:ext cx="23317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“wind turbine and solar panels, blue sky”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5943600"/>
            <a:ext cx="2788920" cy="365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5943600"/>
            <a:ext cx="27889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ESG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069080"/>
            <a:ext cx="2788920" cy="18288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398264"/>
            <a:ext cx="2788920" cy="5486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020056"/>
            <a:ext cx="233172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202936"/>
            <a:ext cx="233172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“shopper using smartphone in grocery aisle, bright”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5943600"/>
            <a:ext cx="2788920" cy="365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5943600"/>
            <a:ext cx="27889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⭐  CFMP  (live demo)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4069080"/>
            <a:ext cx="2788920" cy="224028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06840" y="4069080"/>
            <a:ext cx="182880" cy="22402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1160" y="4343400"/>
            <a:ext cx="233172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Total catalog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4800600"/>
            <a:ext cx="2331720" cy="10972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9600" b="1" i="0">
                <a:solidFill>
                  <a:srgbClr val="86BC25"/>
                </a:solidFill>
                <a:latin typeface="Calibr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5852160"/>
            <a:ext cx="233172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1 more on the roadmap (Q3 FY28)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Same engineering structure. Every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Ten assets. Same slots. New Packs land in predictable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029200" cy="4297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510942"/>
            <a:ext cx="5029200" cy="1289304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72153"/>
            <a:ext cx="45720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401921"/>
            <a:ext cx="457200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“organized workshop toolbox or kitchen, top-down view, neat compartments”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623560"/>
            <a:ext cx="45720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(visual metaphor — neat toolbox)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78308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783080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783080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VV manifests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8" y="178308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87968" y="1783080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87968" y="1783080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1783080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Scenarios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233172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2331720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2331720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331720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Source adapters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7968" y="233172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2331720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87968" y="2331720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8" y="2331720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Adaptive cards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88036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52160" y="2880360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2880360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880360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Persona 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8" y="288036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87968" y="2880360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87968" y="2880360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2880360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Demo 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428999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52160" y="3428999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3428999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428999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BVA worksheet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87968" y="3428999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87968" y="3428999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7968" y="3428999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3428999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Sample SOW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397764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0" y="3977640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3977640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977640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Acceptance tests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87968" y="3977640"/>
            <a:ext cx="2926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887968" y="3977640"/>
            <a:ext cx="457200" cy="438912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8" y="3977640"/>
            <a:ext cx="4572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36608" y="3977640"/>
            <a:ext cx="2286000" cy="43891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200" b="1" i="0">
                <a:solidFill>
                  <a:srgbClr val="1A1F2E"/>
                </a:solidFill>
                <a:latin typeface="Calibri"/>
              </a:rPr>
              <a:t>Runbook + training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Spotlight  —  CFMP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Customer Focused Merchandise Pack v0.2  ·  the live worked example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74552" cy="31089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96972"/>
            <a:ext cx="11274552" cy="932688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54019"/>
            <a:ext cx="10817352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64915"/>
            <a:ext cx="10817352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“modern grocery store customer using smartphone in dairy or beverage aisle, candid, bright daylight”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10817352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(full-width hero — the customer at the moment of decision)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83480"/>
            <a:ext cx="2788920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278892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CHOOSE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278892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What should I buy?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4983480"/>
            <a:ext cx="2788920" cy="10058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5074920"/>
            <a:ext cx="278892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486400"/>
            <a:ext cx="278892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Where is it?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983480"/>
            <a:ext cx="2788920" cy="10058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5074920"/>
            <a:ext cx="278892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486400"/>
            <a:ext cx="278892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How do I pay?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8280" y="4983480"/>
            <a:ext cx="2788920" cy="1005840"/>
          </a:xfrm>
          <a:prstGeom prst="rect">
            <a:avLst/>
          </a:prstGeom>
          <a:solidFill>
            <a:srgbClr val="B44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5074920"/>
            <a:ext cx="2788920" cy="4572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5486400"/>
            <a:ext cx="278892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What's next?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34440"/>
            <a:ext cx="12191695" cy="2057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66160"/>
            <a:ext cx="11734495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251960"/>
            <a:ext cx="11734495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“presenter at laptop showing screen to two clients, modern conference room”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46520"/>
            <a:ext cx="11734495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(full-bleed; apply 65% dark transparency over photo for text legibility)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28800"/>
            <a:ext cx="182880" cy="32004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1430000" cy="457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Open the demo. Talk through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14300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500" b="0" i="1">
                <a:solidFill>
                  <a:srgbClr val="CBD5E1"/>
                </a:solidFill>
                <a:latin typeface="Calibri"/>
              </a:rPr>
              <a:t>Eight surfaces · ten minutes · let the agent answer for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11274552" cy="77724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1274552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949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394960"/>
            <a:ext cx="1371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1. Demo 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53949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5394960"/>
            <a:ext cx="1371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2. Where is X?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53949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5394960"/>
            <a:ext cx="1371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3. Dietary chip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53949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5394960"/>
            <a:ext cx="1371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4. Cart click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53949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394960"/>
            <a:ext cx="1371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5. /architecture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53949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5394960"/>
            <a:ext cx="1371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6. Details 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53949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5394960"/>
            <a:ext cx="1371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7. APEX value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24160" y="5394960"/>
            <a:ext cx="1371600" cy="50292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5394960"/>
            <a:ext cx="1371600" cy="5029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8. Tour flyout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Engagement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Five tiers. Stackable. Each tier earns the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572000" cy="4206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94483"/>
            <a:ext cx="4572000" cy="12618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24604"/>
            <a:ext cx="41148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45228"/>
            <a:ext cx="411480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“ascending modern staircase, glass-walled office building, looking upward, warm light”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32120"/>
            <a:ext cx="41148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(visual metaphor — the ladder)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737360"/>
            <a:ext cx="77724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73736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737360"/>
            <a:ext cx="5852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78308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1F2E"/>
                </a:solidFill>
                <a:latin typeface="Calibri"/>
              </a:rP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$400–700K  ·  6–10 wks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560320"/>
            <a:ext cx="77724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56032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2560320"/>
            <a:ext cx="5852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1F2E"/>
                </a:solidFill>
                <a:latin typeface="Calibri"/>
              </a:rPr>
              <a:t>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$100K–$3.5M  ·  4 wks–9 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3383280"/>
            <a:ext cx="77724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38328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383280"/>
            <a:ext cx="5852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42900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1F2E"/>
                </a:solidFill>
                <a:latin typeface="Calibri"/>
              </a:rPr>
              <a:t>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9476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$150–400K  ·  4–8 wks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4206240"/>
            <a:ext cx="77724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420624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4206240"/>
            <a:ext cx="5852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5196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1F2E"/>
                </a:solidFill>
                <a:latin typeface="Calibri"/>
              </a:rPr>
              <a:t>CUSTOM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1772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T&amp;M  ·  Sprints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5029200"/>
            <a:ext cx="777240" cy="7772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5029200"/>
            <a:ext cx="77724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600" b="1" i="0">
                <a:solidFill>
                  <a:srgbClr val="86BC25"/>
                </a:solidFill>
                <a:latin typeface="Calibri"/>
              </a:rPr>
              <a:t>T5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5029200"/>
            <a:ext cx="5852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07492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1" i="0">
                <a:solidFill>
                  <a:srgbClr val="1A1F2E"/>
                </a:solidFill>
                <a:latin typeface="Calibri"/>
              </a:rPr>
              <a:t>OPERATE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440680"/>
            <a:ext cx="54864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Calibri"/>
              </a:rPr>
              <a:t>$/mo subscription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Independence  — 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Deloitte audits Microsoft. SEC rules shape funding.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572000" cy="4206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94483"/>
            <a:ext cx="4572000" cy="12618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24604"/>
            <a:ext cx="41148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45228"/>
            <a:ext cx="411480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“scales of justice statue on legal desk, soft natural light”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32120"/>
            <a:ext cx="4114800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(visual metaphor)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783080"/>
            <a:ext cx="31089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86BC25"/>
                </a:solidFill>
                <a:latin typeface="Calibri"/>
              </a:rPr>
              <a:t>✓  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1945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19456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269748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69748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DCIF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20040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320040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ISV Marketplace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70332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70332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 Teaming POC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20624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0" y="420624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T&amp;M  ·  Client direct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783080"/>
            <a:ext cx="310896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000" b="1" i="0">
                <a:solidFill>
                  <a:srgbClr val="A03535"/>
                </a:solidFill>
                <a:latin typeface="Calibri"/>
              </a:rPr>
              <a:t>✕  DO NOT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0" y="219456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19456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Direct ECIF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269748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69748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“Partnership”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20040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20040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Microsoft co-sell credit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703320"/>
            <a:ext cx="3108960" cy="411480"/>
          </a:xfrm>
          <a:prstGeom prst="roundRect">
            <a:avLst>
              <a:gd name="adj" fmla="val 50000"/>
            </a:avLst>
          </a:prstGeom>
          <a:solidFill>
            <a:srgbClr val="A0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703320"/>
            <a:ext cx="3108960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Selling APEX itself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What we sell  /  What we don't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The single most important framing.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577840" cy="4297680"/>
          </a:xfrm>
          <a:prstGeom prst="rect">
            <a:avLst/>
          </a:prstGeom>
          <a:solidFill>
            <a:srgbClr val="F8EEEE"/>
          </a:solidFill>
          <a:ln w="6350">
            <a:solidFill>
              <a:srgbClr val="A0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57784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000" b="1" i="0">
                <a:solidFill>
                  <a:srgbClr val="A03535"/>
                </a:solidFill>
                <a:latin typeface="Calibri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557784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800" b="1" i="0">
                <a:solidFill>
                  <a:srgbClr val="A03535"/>
                </a:solidFill>
                <a:latin typeface="Calibri"/>
              </a:rPr>
              <a:t>NOT a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5212080" cy="2194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Not a SKU.</a:t>
            </a:r>
          </a:p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Not a license.</a:t>
            </a:r>
          </a:p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Not a subscription a client can buy.</a:t>
            </a:r>
          </a:p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Not Microsoft co-sell.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83080"/>
            <a:ext cx="5486400" cy="4297680"/>
          </a:xfrm>
          <a:prstGeom prst="rect">
            <a:avLst/>
          </a:prstGeom>
          <a:solidFill>
            <a:srgbClr val="EEF8EE"/>
          </a:solidFill>
          <a:ln w="6350">
            <a:solidFill>
              <a:srgbClr val="86B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486400" cy="7315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8000" b="1" i="0">
                <a:solidFill>
                  <a:srgbClr val="86BC25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017520"/>
            <a:ext cx="54864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2400" b="1" i="0">
                <a:solidFill>
                  <a:srgbClr val="86BC25"/>
                </a:solidFill>
                <a:latin typeface="Calibri"/>
              </a:rPr>
              <a:t>Deloitte delivery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49039"/>
            <a:ext cx="5120640" cy="21945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We sell  agentic-AI delivery services.</a:t>
            </a:r>
          </a:p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Scoped per Pack. Per tier.</a:t>
            </a:r>
          </a:p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Per SOW under a Service Envelope.</a:t>
            </a:r>
          </a:p>
          <a:p>
            <a:pPr algn="ctr"/>
            <a:r>
              <a:rPr sz="1400" b="0" i="0">
                <a:solidFill>
                  <a:srgbClr val="1A1F2E"/>
                </a:solidFill>
                <a:latin typeface="Calibri"/>
              </a:rPr>
              <a:t>Framework is Deloitte IP. Always.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The wedge  —  BVA  →  Pack Lite  →  Standard  →  Enterprise  →  Operate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Each step earns the next. Nothing gets redone.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11274552" cy="2377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65299"/>
            <a:ext cx="11274552" cy="71323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3628"/>
            <a:ext cx="10817352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1372"/>
            <a:ext cx="10817352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“workshop sticky notes on glass wall, hands gesturing, post-its in clusters”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10817352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(visual metaphor — the BVA workshop kickoff)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297680"/>
            <a:ext cx="411480" cy="4114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006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846320"/>
            <a:ext cx="224028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BVA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85232"/>
            <a:ext cx="22402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4 hrs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650992"/>
            <a:ext cx="1874520" cy="365760"/>
          </a:xfrm>
          <a:prstGeom prst="roundRect">
            <a:avLst>
              <a:gd name="adj" fmla="val 3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650992"/>
            <a:ext cx="18745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17" name="Oval 16"/>
          <p:cNvSpPr/>
          <p:nvPr/>
        </p:nvSpPr>
        <p:spPr>
          <a:xfrm>
            <a:off x="3703320" y="4297680"/>
            <a:ext cx="411480" cy="4114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48006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4846320"/>
            <a:ext cx="224028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Pack 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5285232"/>
            <a:ext cx="22402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4-6 wk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5650992"/>
            <a:ext cx="1874520" cy="365760"/>
          </a:xfrm>
          <a:prstGeom prst="roundRect">
            <a:avLst>
              <a:gd name="adj" fmla="val 3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5650992"/>
            <a:ext cx="18745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$150-250K</a:t>
            </a:r>
          </a:p>
        </p:txBody>
      </p:sp>
      <p:sp>
        <p:nvSpPr>
          <p:cNvPr id="23" name="Oval 22"/>
          <p:cNvSpPr/>
          <p:nvPr/>
        </p:nvSpPr>
        <p:spPr>
          <a:xfrm>
            <a:off x="6035040" y="4297680"/>
            <a:ext cx="411480" cy="4114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48006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4846320"/>
            <a:ext cx="224028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285232"/>
            <a:ext cx="22402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12-16w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5650992"/>
            <a:ext cx="1874520" cy="365760"/>
          </a:xfrm>
          <a:prstGeom prst="roundRect">
            <a:avLst>
              <a:gd name="adj" fmla="val 3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0" y="5650992"/>
            <a:ext cx="18745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$500K-1.5M</a:t>
            </a:r>
          </a:p>
        </p:txBody>
      </p:sp>
      <p:sp>
        <p:nvSpPr>
          <p:cNvPr id="29" name="Oval 28"/>
          <p:cNvSpPr/>
          <p:nvPr/>
        </p:nvSpPr>
        <p:spPr>
          <a:xfrm>
            <a:off x="8366760" y="4297680"/>
            <a:ext cx="411480" cy="4114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52360" y="48006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4846320"/>
            <a:ext cx="224028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285232"/>
            <a:ext cx="22402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6-9 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5650992"/>
            <a:ext cx="1874520" cy="365760"/>
          </a:xfrm>
          <a:prstGeom prst="roundRect">
            <a:avLst>
              <a:gd name="adj" fmla="val 3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5650992"/>
            <a:ext cx="18745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$1.5-3.5M</a:t>
            </a:r>
          </a:p>
        </p:txBody>
      </p:sp>
      <p:sp>
        <p:nvSpPr>
          <p:cNvPr id="35" name="Oval 34"/>
          <p:cNvSpPr/>
          <p:nvPr/>
        </p:nvSpPr>
        <p:spPr>
          <a:xfrm>
            <a:off x="10698480" y="4297680"/>
            <a:ext cx="411480" cy="41148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4800600"/>
            <a:ext cx="22402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0" y="4846320"/>
            <a:ext cx="224028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800" b="1" i="0">
                <a:solidFill>
                  <a:srgbClr val="1A1F2E"/>
                </a:solidFill>
                <a:latin typeface="Calibri"/>
              </a:rPr>
              <a:t>Operate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5285232"/>
            <a:ext cx="2240280" cy="32004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ongoing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66960" y="5650992"/>
            <a:ext cx="1874520" cy="365760"/>
          </a:xfrm>
          <a:prstGeom prst="roundRect">
            <a:avLst>
              <a:gd name="adj" fmla="val 30000"/>
            </a:avLst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66960" y="5650992"/>
            <a:ext cx="1874520" cy="36576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$/mo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82880" cy="1828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1A1F2E"/>
                </a:solidFill>
                <a:latin typeface="Calibri"/>
              </a:rPr>
              <a:t>The questions you'll 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5156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475569"/>
                </a:solidFill>
                <a:latin typeface="Calibri"/>
              </a:rPr>
              <a:t>Six openers cover ~90% of the first ten minutes. You know the answers.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4114800" cy="4206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94483"/>
            <a:ext cx="4114800" cy="1261872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24604"/>
            <a:ext cx="36576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45228"/>
            <a:ext cx="3657600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“client meeting, two executives leaning forward asking question, modern office”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783080"/>
            <a:ext cx="6903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783080"/>
            <a:ext cx="502920" cy="6400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783080"/>
            <a:ext cx="50292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783080"/>
            <a:ext cx="617220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F2E"/>
                </a:solidFill>
                <a:latin typeface="Calibri"/>
              </a:rPr>
              <a:t>Is this Microsoft's product?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514599"/>
            <a:ext cx="6903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2514599"/>
            <a:ext cx="502920" cy="6400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514599"/>
            <a:ext cx="50292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514599"/>
            <a:ext cx="617220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F2E"/>
                </a:solidFill>
                <a:latin typeface="Calibri"/>
              </a:rPr>
              <a:t>Can we buy APEX?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246119"/>
            <a:ext cx="6903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3246119"/>
            <a:ext cx="502920" cy="6400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246119"/>
            <a:ext cx="50292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246119"/>
            <a:ext cx="617220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F2E"/>
                </a:solidFill>
                <a:latin typeface="Calibri"/>
              </a:rPr>
              <a:t>How is this different from Foundry?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977640"/>
            <a:ext cx="6903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3977640"/>
            <a:ext cx="502920" cy="6400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977640"/>
            <a:ext cx="50292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977640"/>
            <a:ext cx="617220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F2E"/>
                </a:solidFill>
                <a:latin typeface="Calibri"/>
              </a:rPr>
              <a:t>What if we're on AWS or Google?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709159"/>
            <a:ext cx="6903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4709159"/>
            <a:ext cx="502920" cy="6400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709159"/>
            <a:ext cx="50292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709159"/>
            <a:ext cx="617220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F2E"/>
                </a:solidFill>
                <a:latin typeface="Calibri"/>
              </a:rPr>
              <a:t>How fast can we see something working?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5440679"/>
            <a:ext cx="6903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5440679"/>
            <a:ext cx="502920" cy="6400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5440679"/>
            <a:ext cx="50292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40679"/>
            <a:ext cx="6172200" cy="6400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1400" b="0" i="0">
                <a:solidFill>
                  <a:srgbClr val="1A1F2E"/>
                </a:solidFill>
                <a:latin typeface="Calibri"/>
              </a:rPr>
              <a:t>What does the audit story look like?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234440"/>
            <a:ext cx="12191695" cy="2057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200" b="0" i="0">
                <a:solidFill>
                  <a:srgbClr val="64748B"/>
                </a:solidFill>
                <a:latin typeface="Calibri"/>
              </a:rPr>
              <a:t>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66160"/>
            <a:ext cx="11734495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/>
            <a:r>
              <a:rPr sz="1000" b="1" i="0">
                <a:solidFill>
                  <a:srgbClr val="64748B"/>
                </a:solidFill>
                <a:latin typeface="Calibri"/>
              </a:rPr>
              <a:t>INSERT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4251960"/>
            <a:ext cx="11734495" cy="77724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“business professionals walking forward through bright lobby, motion blur, golden hour”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46520"/>
            <a:ext cx="11734495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850" b="0" i="0">
                <a:solidFill>
                  <a:srgbClr val="64748B"/>
                </a:solidFill>
                <a:latin typeface="Calibri"/>
              </a:rPr>
              <a:t>(full-bleed; apply 65% dark transparency overlay)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12191695" cy="493776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914400"/>
            <a:ext cx="182880" cy="49377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0972800" cy="41148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600" b="0" i="1">
                <a:solidFill>
                  <a:srgbClr val="CBD5E1"/>
                </a:solidFill>
                <a:latin typeface="Calibri"/>
              </a:rPr>
              <a:t>Three actions. Every DMTSP seller. Every week.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828800" cy="914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560320"/>
            <a:ext cx="91440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OPEN  the 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06324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60 minutes  ·  one client 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1828800" cy="914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611880"/>
            <a:ext cx="91440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BOOK  the  BVA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11480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4 hours  ·  client-funded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828800" cy="914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200" b="1" i="0">
                <a:solidFill>
                  <a:srgbClr val="86BC25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663440"/>
            <a:ext cx="9144000" cy="5029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SIGN  Pack Lite SOW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166360"/>
            <a:ext cx="9144000" cy="36576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1300" b="0" i="1">
                <a:solidFill>
                  <a:srgbClr val="CBD5E1"/>
                </a:solidFill>
                <a:latin typeface="Calibri"/>
              </a:rPr>
              <a:t>DCIF  ·  $150-250K  ·  4-6 wks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89320"/>
            <a:ext cx="12191695" cy="41148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0" y="5989320"/>
            <a:ext cx="12191695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ca-visionkit-portal.gentlestone-9b49b099.eastus2.azurecontainerapps.io/architecture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APEX  ·  Deloitte Microsoft Technology &amp; Services Practice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/>
            <a:r>
              <a:rPr sz="900" b="1" i="0">
                <a:solidFill>
                  <a:srgbClr val="86BC2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
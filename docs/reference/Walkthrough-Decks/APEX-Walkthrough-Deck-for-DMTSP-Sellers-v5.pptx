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2" d="100"/>
          <a:sy n="62" d="100"/>
        </p:scale>
        <p:origin x="804" y="2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ro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601200" y="4572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457200"/>
            <a:ext cx="2194560" cy="384048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DMTSP  ·  v5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194560"/>
            <a:ext cx="6858000" cy="12801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0" b="1" i="0">
                <a:solidFill>
                  <a:srgbClr val="FFFFFF"/>
                </a:solidFill>
                <a:latin typeface="Calibri"/>
              </a:rPr>
              <a:t>APEX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993046"/>
            <a:ext cx="548640" cy="10972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0" y="4175926"/>
            <a:ext cx="6858000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Deloitte's agentic-AI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633126"/>
            <a:ext cx="6858000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delivery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5410366"/>
            <a:ext cx="68580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  <a:latin typeface="Calibri"/>
              </a:rPr>
              <a:t>Walkthrough for DMTSP  ·  what it is  ·  how to demo  ·  how to make it real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5669280"/>
            <a:ext cx="6583680" cy="502920"/>
          </a:xfrm>
          <a:prstGeom prst="roundRect">
            <a:avLst>
              <a:gd name="adj" fmla="val 20000"/>
            </a:avLst>
          </a:prstGeom>
          <a:solidFill>
            <a:srgbClr val="0E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5669280"/>
            <a:ext cx="6583680" cy="5029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000" b="1" i="0">
                <a:solidFill>
                  <a:srgbClr val="86BC25"/>
                </a:solidFill>
                <a:latin typeface="Calibri"/>
              </a:rPr>
              <a:t>ca-visionkit-portal.gentlestone-9b49b099.eastus2.azurecontainerapps.io/architecture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310896"/>
            <a:ext cx="10058400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1" i="0">
                <a:solidFill>
                  <a:srgbClr val="1A1F2E"/>
                </a:solidFill>
                <a:latin typeface="Calibri"/>
              </a:rPr>
              <a:t>APEX 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86968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Memorize this — start every client conversation 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28016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2200" b="1" i="0">
                <a:solidFill>
                  <a:srgbClr val="86BC25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457200" cy="8229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0" b="1" i="0">
                <a:solidFill>
                  <a:srgbClr val="86BC25"/>
                </a:solidFill>
                <a:latin typeface="Calibri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6217920" cy="23774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4200" b="1" i="0">
                <a:solidFill>
                  <a:srgbClr val="1A1F2E"/>
                </a:solidFill>
                <a:latin typeface="Calibri"/>
              </a:rPr>
              <a:t>The engagement layer</a:t>
            </a:r>
          </a:p>
          <a:p>
            <a:pPr algn="l"/>
            <a:r>
              <a:rPr sz="4200" b="1" i="0">
                <a:solidFill>
                  <a:srgbClr val="1A1F2E"/>
                </a:solidFill>
                <a:latin typeface="Calibri"/>
              </a:rPr>
              <a:t>cloud vendors</a:t>
            </a:r>
          </a:p>
          <a:p>
            <a:pPr algn="l"/>
            <a:r>
              <a:rPr sz="4200" b="1" i="0">
                <a:solidFill>
                  <a:srgbClr val="1A1F2E"/>
                </a:solidFill>
                <a:latin typeface="Calibri"/>
              </a:rPr>
              <a:t>don't ship.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029200"/>
            <a:ext cx="457200" cy="9144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5166360"/>
            <a:ext cx="6400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1">
                <a:solidFill>
                  <a:srgbClr val="475569"/>
                </a:solidFill>
                <a:latin typeface="Calibri"/>
              </a:rPr>
              <a:t>— That's the one-liner.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828800"/>
            <a:ext cx="4663440" cy="777240"/>
          </a:xfrm>
          <a:prstGeom prst="roundRect">
            <a:avLst>
              <a:gd name="adj" fmla="val 10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0" y="1828800"/>
            <a:ext cx="4663440" cy="7772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Client outcome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230868" y="2651760"/>
            <a:ext cx="466344" cy="411480"/>
          </a:xfrm>
          <a:prstGeom prst="down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132320" y="3108960"/>
            <a:ext cx="4663440" cy="1371600"/>
          </a:xfrm>
          <a:prstGeom prst="roundRect">
            <a:avLst>
              <a:gd name="adj" fmla="val 10000"/>
            </a:avLst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0" y="3108960"/>
            <a:ext cx="466344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APEX  —  the engagement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520440"/>
            <a:ext cx="4663440" cy="9144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Industry Packs  ·  Virtual Views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WORM LEDGER  ·  Service Envelopes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10-asset bundle structure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9230868" y="4617720"/>
            <a:ext cx="466344" cy="411480"/>
          </a:xfrm>
          <a:prstGeom prst="down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132320" y="5074920"/>
            <a:ext cx="4663440" cy="777240"/>
          </a:xfrm>
          <a:prstGeom prst="roundRect">
            <a:avLst>
              <a:gd name="adj" fmla="val 10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0" y="5074920"/>
            <a:ext cx="4663440" cy="7772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Foundry  ·  Vertex  ·  Bedrock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897880"/>
            <a:ext cx="466344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1">
                <a:solidFill>
                  <a:srgbClr val="475569"/>
                </a:solidFill>
                <a:latin typeface="Calibri"/>
              </a:rPr>
              <a:t>(cloud-vendor agent runtimes)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310896"/>
            <a:ext cx="10058400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1" i="0">
                <a:solidFill>
                  <a:srgbClr val="1A1F2E"/>
                </a:solidFill>
                <a:latin typeface="Calibri"/>
              </a:rPr>
              <a:t>Without APEX  ·  With APEX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86968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Same Foundry runtime. Different deal shape.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28016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2200" b="1" i="0">
                <a:solidFill>
                  <a:srgbClr val="86BC25"/>
                </a:solidFill>
                <a:latin typeface="Calibr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5577840" cy="4663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A0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577840" cy="640080"/>
          </a:xfrm>
          <a:prstGeom prst="rect">
            <a:avLst/>
          </a:prstGeom>
          <a:solidFill>
            <a:srgbClr val="A0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57784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WITHOUT APEX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989320"/>
            <a:ext cx="5577840" cy="365760"/>
          </a:xfrm>
          <a:prstGeom prst="rect">
            <a:avLst/>
          </a:prstGeom>
          <a:solidFill>
            <a:srgbClr val="FD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1520" y="2743200"/>
            <a:ext cx="182880" cy="182880"/>
          </a:xfrm>
          <a:prstGeom prst="ellipse">
            <a:avLst/>
          </a:prstGeom>
          <a:solidFill>
            <a:srgbClr val="A0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606040"/>
            <a:ext cx="48463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1A1F2E"/>
                </a:solidFill>
                <a:latin typeface="Calibri"/>
              </a:rPr>
              <a:t>Staff augmentation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953512"/>
            <a:ext cx="484632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Project competes with what client could build alone.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584448"/>
            <a:ext cx="182880" cy="182880"/>
          </a:xfrm>
          <a:prstGeom prst="ellipse">
            <a:avLst/>
          </a:prstGeom>
          <a:solidFill>
            <a:srgbClr val="A0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447288"/>
            <a:ext cx="48463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1A1F2E"/>
                </a:solidFill>
                <a:latin typeface="Calibri"/>
              </a:rPr>
              <a:t>Bespoke discovery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794760"/>
            <a:ext cx="484632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Every engagement re-invents the data model + SOW.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425696"/>
            <a:ext cx="182880" cy="182880"/>
          </a:xfrm>
          <a:prstGeom prst="ellipse">
            <a:avLst/>
          </a:prstGeom>
          <a:solidFill>
            <a:srgbClr val="A0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4288536"/>
            <a:ext cx="48463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1A1F2E"/>
                </a:solidFill>
                <a:latin typeface="Calibri"/>
              </a:rPr>
              <a:t>Margin compression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36008"/>
            <a:ext cx="484632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Deal shape resembles labor sales.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266944"/>
            <a:ext cx="182880" cy="182880"/>
          </a:xfrm>
          <a:prstGeom prst="ellipse">
            <a:avLst/>
          </a:prstGeom>
          <a:solidFill>
            <a:srgbClr val="A0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5129784"/>
            <a:ext cx="48463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1A1F2E"/>
                </a:solidFill>
                <a:latin typeface="Calibri"/>
              </a:rPr>
              <a:t>Fragile audit 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477256"/>
            <a:ext cx="484632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No replay; trust is conversational, not cryptographic.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691640"/>
            <a:ext cx="5486400" cy="4663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3640" y="1691640"/>
            <a:ext cx="5486400" cy="6400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63640" y="1691640"/>
            <a:ext cx="548640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WITH APEX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5989320"/>
            <a:ext cx="5486400" cy="36576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537960" y="2743200"/>
            <a:ext cx="182880" cy="18288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0" y="2606040"/>
            <a:ext cx="475488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1A1F2E"/>
                </a:solidFill>
                <a:latin typeface="Calibri"/>
              </a:rPr>
              <a:t>Fixed-fee Packs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953512"/>
            <a:ext cx="475488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Industry Pack scoped at sub-tier (Lite / Standard / Enterprise).</a:t>
            </a:r>
          </a:p>
        </p:txBody>
      </p:sp>
      <p:sp>
        <p:nvSpPr>
          <p:cNvPr id="30" name="Oval 29"/>
          <p:cNvSpPr/>
          <p:nvPr/>
        </p:nvSpPr>
        <p:spPr>
          <a:xfrm>
            <a:off x="6537960" y="3584448"/>
            <a:ext cx="182880" cy="18288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0" y="3447288"/>
            <a:ext cx="475488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1A1F2E"/>
                </a:solidFill>
                <a:latin typeface="Calibri"/>
              </a:rPr>
              <a:t>Canonical scenarios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794760"/>
            <a:ext cx="475488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10-asset bundle ships pre-built playbooks.</a:t>
            </a:r>
          </a:p>
        </p:txBody>
      </p:sp>
      <p:sp>
        <p:nvSpPr>
          <p:cNvPr id="33" name="Oval 32"/>
          <p:cNvSpPr/>
          <p:nvPr/>
        </p:nvSpPr>
        <p:spPr>
          <a:xfrm>
            <a:off x="6537960" y="4425696"/>
            <a:ext cx="182880" cy="18288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0" y="4288536"/>
            <a:ext cx="475488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1A1F2E"/>
                </a:solidFill>
                <a:latin typeface="Calibri"/>
              </a:rPr>
              <a:t>WORM LEDGER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636008"/>
            <a:ext cx="475488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14-field hash-chained audit row per decision.</a:t>
            </a:r>
          </a:p>
        </p:txBody>
      </p:sp>
      <p:sp>
        <p:nvSpPr>
          <p:cNvPr id="36" name="Oval 35"/>
          <p:cNvSpPr/>
          <p:nvPr/>
        </p:nvSpPr>
        <p:spPr>
          <a:xfrm>
            <a:off x="6537960" y="5266944"/>
            <a:ext cx="182880" cy="18288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58000" y="5129784"/>
            <a:ext cx="475488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1A1F2E"/>
                </a:solidFill>
                <a:latin typeface="Calibri"/>
              </a:rPr>
              <a:t>Replatform = config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477256"/>
            <a:ext cx="475488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Same Pack on APEX-M / G / A.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310896"/>
            <a:ext cx="10058400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1" i="0">
                <a:solidFill>
                  <a:srgbClr val="1A1F2E"/>
                </a:solidFill>
                <a:latin typeface="Calibri"/>
              </a:rPr>
              <a:t>The five pieces of APEX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86968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Every engagement assembles from these.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28016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2200" b="1" i="0">
                <a:solidFill>
                  <a:srgbClr val="86BC25"/>
                </a:solidFill>
                <a:latin typeface="Calibr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1945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219456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200" b="1" i="0">
                <a:solidFill>
                  <a:srgbClr val="86BC25"/>
                </a:solidFill>
                <a:latin typeface="Calibri"/>
              </a:rPr>
              <a:t>01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2331720"/>
            <a:ext cx="1005840" cy="1005840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331720"/>
            <a:ext cx="1005840" cy="10058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20440"/>
            <a:ext cx="219456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800" b="1" i="0">
                <a:solidFill>
                  <a:srgbClr val="1A1F2E"/>
                </a:solidFill>
                <a:latin typeface="Calibri"/>
              </a:rPr>
              <a:t>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23360"/>
            <a:ext cx="219456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Cloud-neutral 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897880"/>
            <a:ext cx="2194560" cy="13716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834640" y="1737360"/>
            <a:ext cx="21945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34640" y="1874519"/>
            <a:ext cx="219456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200" b="1" i="0">
                <a:solidFill>
                  <a:srgbClr val="86BC25"/>
                </a:solidFill>
                <a:latin typeface="Calibri"/>
              </a:rPr>
              <a:t>02</a:t>
            </a:r>
          </a:p>
        </p:txBody>
      </p:sp>
      <p:sp>
        <p:nvSpPr>
          <p:cNvPr id="16" name="Oval 15"/>
          <p:cNvSpPr/>
          <p:nvPr/>
        </p:nvSpPr>
        <p:spPr>
          <a:xfrm>
            <a:off x="3429000" y="2331720"/>
            <a:ext cx="1005840" cy="10058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29000" y="2331720"/>
            <a:ext cx="1005840" cy="10058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520440"/>
            <a:ext cx="219456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800" b="1" i="0">
                <a:solidFill>
                  <a:srgbClr val="1A1F2E"/>
                </a:solidFill>
                <a:latin typeface="Calibri"/>
              </a:rPr>
              <a:t>PROFILES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023360"/>
            <a:ext cx="219456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M  /  G  /  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5897880"/>
            <a:ext cx="2194560" cy="13716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166360" y="1737360"/>
            <a:ext cx="21945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66360" y="1874519"/>
            <a:ext cx="219456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200" b="1" i="0">
                <a:solidFill>
                  <a:srgbClr val="86BC25"/>
                </a:solidFill>
                <a:latin typeface="Calibri"/>
              </a:rPr>
              <a:t>03</a:t>
            </a:r>
          </a:p>
        </p:txBody>
      </p:sp>
      <p:sp>
        <p:nvSpPr>
          <p:cNvPr id="23" name="Oval 22"/>
          <p:cNvSpPr/>
          <p:nvPr/>
        </p:nvSpPr>
        <p:spPr>
          <a:xfrm>
            <a:off x="5760720" y="2331720"/>
            <a:ext cx="1005840" cy="1005840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60720" y="2331720"/>
            <a:ext cx="1005840" cy="10058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3520440"/>
            <a:ext cx="219456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800" b="1" i="0">
                <a:solidFill>
                  <a:srgbClr val="1A1F2E"/>
                </a:solidFill>
                <a:latin typeface="Calibri"/>
              </a:rPr>
              <a:t>PACKS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4023360"/>
            <a:ext cx="219456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7 in the catalog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66360" y="5897880"/>
            <a:ext cx="2194560" cy="13716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498079" y="1737360"/>
            <a:ext cx="21945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79" y="1874519"/>
            <a:ext cx="219456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200" b="1" i="0">
                <a:solidFill>
                  <a:srgbClr val="86BC25"/>
                </a:solidFill>
                <a:latin typeface="Calibri"/>
              </a:rPr>
              <a:t>04</a:t>
            </a:r>
          </a:p>
        </p:txBody>
      </p:sp>
      <p:sp>
        <p:nvSpPr>
          <p:cNvPr id="30" name="Oval 29"/>
          <p:cNvSpPr/>
          <p:nvPr/>
        </p:nvSpPr>
        <p:spPr>
          <a:xfrm>
            <a:off x="8092439" y="2331720"/>
            <a:ext cx="1005840" cy="1005840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92439" y="2331720"/>
            <a:ext cx="1005840" cy="10058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520440"/>
            <a:ext cx="219456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800" b="1" i="0">
                <a:solidFill>
                  <a:srgbClr val="1A1F2E"/>
                </a:solidFill>
                <a:latin typeface="Calibri"/>
              </a:rPr>
              <a:t>ENVELOPES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4023360"/>
            <a:ext cx="219456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5 sellable tiers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79" y="5897880"/>
            <a:ext cx="2194560" cy="13716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829800" y="1737360"/>
            <a:ext cx="21945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829800" y="1874519"/>
            <a:ext cx="219456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200" b="1" i="0">
                <a:solidFill>
                  <a:srgbClr val="86BC25"/>
                </a:solidFill>
                <a:latin typeface="Calibri"/>
              </a:rPr>
              <a:t>05</a:t>
            </a:r>
          </a:p>
        </p:txBody>
      </p:sp>
      <p:sp>
        <p:nvSpPr>
          <p:cNvPr id="37" name="Oval 36"/>
          <p:cNvSpPr/>
          <p:nvPr/>
        </p:nvSpPr>
        <p:spPr>
          <a:xfrm>
            <a:off x="10424160" y="2331720"/>
            <a:ext cx="1005840" cy="1005840"/>
          </a:xfrm>
          <a:prstGeom prst="ellipse">
            <a:avLst/>
          </a:prstGeom>
          <a:solidFill>
            <a:srgbClr val="5A8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424160" y="2331720"/>
            <a:ext cx="1005840" cy="10058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3520440"/>
            <a:ext cx="219456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800" b="1" i="0">
                <a:solidFill>
                  <a:srgbClr val="1A1F2E"/>
                </a:solidFill>
                <a:latin typeface="Calibri"/>
              </a:rPr>
              <a:t>LEDGER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4023360"/>
            <a:ext cx="219456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WORM hash chain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29800" y="5897880"/>
            <a:ext cx="2194560" cy="13716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310896"/>
            <a:ext cx="10058400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1" i="0">
                <a:solidFill>
                  <a:srgbClr val="1A1F2E"/>
                </a:solidFill>
                <a:latin typeface="Calibri"/>
              </a:rPr>
              <a:t>Same core. Different cloud.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86968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Three implementations of one 14-interface contract.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28016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2200" b="1" i="0">
                <a:solidFill>
                  <a:srgbClr val="86BC25"/>
                </a:solidFill>
                <a:latin typeface="Calibr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370332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370332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3703320" cy="457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APEX-M</a:t>
            </a:r>
          </a:p>
        </p:txBody>
      </p:sp>
      <p:sp>
        <p:nvSpPr>
          <p:cNvPr id="10" name="Oval 9"/>
          <p:cNvSpPr/>
          <p:nvPr/>
        </p:nvSpPr>
        <p:spPr>
          <a:xfrm>
            <a:off x="1645920" y="2423160"/>
            <a:ext cx="1417320" cy="14173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45920" y="2423160"/>
            <a:ext cx="1417320" cy="1417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77639"/>
            <a:ext cx="370332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300" b="0" i="0">
                <a:solidFill>
                  <a:srgbClr val="475569"/>
                </a:solidFill>
                <a:latin typeface="Calibri"/>
              </a:rPr>
              <a:t>MICROSOFT  /  AZURE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4389120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17320" y="4389120"/>
            <a:ext cx="1874520" cy="36576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83480"/>
            <a:ext cx="3154680" cy="29260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·  Foundry + Azure OpenAI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03520"/>
            <a:ext cx="3154680" cy="29260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·  OneLake + Fabric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623560"/>
            <a:ext cx="3154680" cy="29260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·  Entra · Purview · Maps Creator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737360"/>
            <a:ext cx="370332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43400" y="1737360"/>
            <a:ext cx="3703320" cy="45720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43400" y="1737360"/>
            <a:ext cx="3703320" cy="457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APEX-G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0" y="2423160"/>
            <a:ext cx="1417320" cy="141732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0" y="2423160"/>
            <a:ext cx="1417320" cy="1417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977639"/>
            <a:ext cx="370332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300" b="0" i="0">
                <a:solidFill>
                  <a:srgbClr val="475569"/>
                </a:solidFill>
                <a:latin typeface="Calibri"/>
              </a:rPr>
              <a:t>GOOGLE  /  GCP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57800" y="4389120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57800" y="4389120"/>
            <a:ext cx="1874520" cy="36576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BETA Q3 FY27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983480"/>
            <a:ext cx="3154680" cy="29260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·  Vertex AI + Gemini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5303520"/>
            <a:ext cx="3154680" cy="29260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·  BigQuery + BigLake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5623560"/>
            <a:ext cx="3154680" cy="29260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·  Cloud Identity · Dataplex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1737360"/>
            <a:ext cx="370332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83880" y="1737360"/>
            <a:ext cx="3703320" cy="457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83880" y="1737360"/>
            <a:ext cx="3703320" cy="457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APEX-A</a:t>
            </a:r>
          </a:p>
        </p:txBody>
      </p:sp>
      <p:sp>
        <p:nvSpPr>
          <p:cNvPr id="32" name="Oval 31"/>
          <p:cNvSpPr/>
          <p:nvPr/>
        </p:nvSpPr>
        <p:spPr>
          <a:xfrm>
            <a:off x="9326880" y="2423160"/>
            <a:ext cx="1417320" cy="141732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26880" y="2423160"/>
            <a:ext cx="1417320" cy="1417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3977639"/>
            <a:ext cx="370332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300" b="0" i="0">
                <a:solidFill>
                  <a:srgbClr val="475569"/>
                </a:solidFill>
                <a:latin typeface="Calibri"/>
              </a:rPr>
              <a:t>AMAZON  /  AWS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98280" y="4389120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98280" y="4389120"/>
            <a:ext cx="1874520" cy="36576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BETA Q4 FY27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4983480"/>
            <a:ext cx="3154680" cy="29260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·  Bedrock (Claude / Nova)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5303520"/>
            <a:ext cx="3154680" cy="29260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·  S3 + Lake Formation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5623560"/>
            <a:ext cx="3154680" cy="29260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0">
                <a:solidFill>
                  <a:srgbClr val="1A1F2E"/>
                </a:solidFill>
                <a:latin typeface="Calibri"/>
              </a:rPr>
              <a:t>·  IAM IC · Location Service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310896"/>
            <a:ext cx="10058400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1" i="0">
                <a:solidFill>
                  <a:srgbClr val="1A1F2E"/>
                </a:solidFill>
                <a:latin typeface="Calibri"/>
              </a:rPr>
              <a:t>Seven Industry Packs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86968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Same 10-asset bundle. Different industry per Pack.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28016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2200" b="1" i="0">
                <a:solidFill>
                  <a:srgbClr val="86BC25"/>
                </a:solidFill>
                <a:latin typeface="Calibr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91640"/>
            <a:ext cx="26060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2606040" cy="18288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1965960"/>
            <a:ext cx="6400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01</a:t>
            </a:r>
          </a:p>
        </p:txBody>
      </p:sp>
      <p:sp>
        <p:nvSpPr>
          <p:cNvPr id="10" name="Oval 9"/>
          <p:cNvSpPr/>
          <p:nvPr/>
        </p:nvSpPr>
        <p:spPr>
          <a:xfrm>
            <a:off x="1251813" y="2194560"/>
            <a:ext cx="833932" cy="77724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51813" y="2194560"/>
            <a:ext cx="833932" cy="7772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17520"/>
            <a:ext cx="260604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1" i="0">
                <a:solidFill>
                  <a:srgbClr val="1A1F2E"/>
                </a:solidFill>
                <a:latin typeface="Calibri"/>
              </a:rPr>
              <a:t>Manufacturing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19272"/>
            <a:ext cx="260604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1">
                <a:solidFill>
                  <a:srgbClr val="475569"/>
                </a:solidFill>
                <a:latin typeface="Calibri"/>
              </a:rPr>
              <a:t>Plant / Ops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36392" y="1691640"/>
            <a:ext cx="26060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36392" y="1691640"/>
            <a:ext cx="2606040" cy="18288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00984" y="1965960"/>
            <a:ext cx="6400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 i="0">
                <a:solidFill>
                  <a:srgbClr val="D97306"/>
                </a:solidFill>
                <a:latin typeface="Calibri"/>
              </a:rPr>
              <a:t>02</a:t>
            </a:r>
          </a:p>
        </p:txBody>
      </p:sp>
      <p:sp>
        <p:nvSpPr>
          <p:cNvPr id="17" name="Oval 16"/>
          <p:cNvSpPr/>
          <p:nvPr/>
        </p:nvSpPr>
        <p:spPr>
          <a:xfrm>
            <a:off x="4022445" y="2194560"/>
            <a:ext cx="833932" cy="777240"/>
          </a:xfrm>
          <a:prstGeom prst="ellipse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22445" y="2194560"/>
            <a:ext cx="833932" cy="7772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36392" y="3017520"/>
            <a:ext cx="260604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1" i="0">
                <a:solidFill>
                  <a:srgbClr val="1A1F2E"/>
                </a:solidFill>
                <a:latin typeface="Calibri"/>
              </a:rPr>
              <a:t>Retail Merch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6392" y="3319272"/>
            <a:ext cx="260604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1">
                <a:solidFill>
                  <a:srgbClr val="475569"/>
                </a:solidFill>
                <a:latin typeface="Calibri"/>
              </a:rPr>
              <a:t>Chief Merchant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07024" y="1691640"/>
            <a:ext cx="26060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07024" y="1691640"/>
            <a:ext cx="2606040" cy="182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71616" y="1965960"/>
            <a:ext cx="6400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alibri"/>
              </a:rPr>
              <a:t>03</a:t>
            </a:r>
          </a:p>
        </p:txBody>
      </p:sp>
      <p:sp>
        <p:nvSpPr>
          <p:cNvPr id="24" name="Oval 23"/>
          <p:cNvSpPr/>
          <p:nvPr/>
        </p:nvSpPr>
        <p:spPr>
          <a:xfrm>
            <a:off x="6793077" y="2194560"/>
            <a:ext cx="833932" cy="7772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93077" y="2194560"/>
            <a:ext cx="833932" cy="7772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7024" y="3017520"/>
            <a:ext cx="260604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1" i="0">
                <a:solidFill>
                  <a:srgbClr val="1A1F2E"/>
                </a:solidFill>
                <a:latin typeface="Calibri"/>
              </a:rPr>
              <a:t>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07024" y="3319272"/>
            <a:ext cx="260604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1">
                <a:solidFill>
                  <a:srgbClr val="475569"/>
                </a:solidFill>
                <a:latin typeface="Calibri"/>
              </a:rPr>
              <a:t>Controller · CFO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77656" y="1691640"/>
            <a:ext cx="26060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677656" y="1691640"/>
            <a:ext cx="2606040" cy="182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42248" y="1965960"/>
            <a:ext cx="6400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alibri"/>
              </a:rPr>
              <a:t>04</a:t>
            </a:r>
          </a:p>
        </p:txBody>
      </p:sp>
      <p:sp>
        <p:nvSpPr>
          <p:cNvPr id="31" name="Oval 30"/>
          <p:cNvSpPr/>
          <p:nvPr/>
        </p:nvSpPr>
        <p:spPr>
          <a:xfrm>
            <a:off x="9563709" y="2194560"/>
            <a:ext cx="833932" cy="7772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563709" y="2194560"/>
            <a:ext cx="833932" cy="7772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77656" y="3017520"/>
            <a:ext cx="260604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1" i="0">
                <a:solidFill>
                  <a:srgbClr val="1A1F2E"/>
                </a:solidFill>
                <a:latin typeface="Calibri"/>
              </a:rPr>
              <a:t>Risk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77656" y="3319272"/>
            <a:ext cx="260604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1">
                <a:solidFill>
                  <a:srgbClr val="475569"/>
                </a:solidFill>
                <a:latin typeface="Calibri"/>
              </a:rPr>
              <a:t>SOX PMO · CRO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22195" y="3886200"/>
            <a:ext cx="26060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022195" y="3886200"/>
            <a:ext cx="2606040" cy="182880"/>
          </a:xfrm>
          <a:prstGeom prst="rect">
            <a:avLst/>
          </a:prstGeom>
          <a:solidFill>
            <a:srgbClr val="2E5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186787" y="4160520"/>
            <a:ext cx="6400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 i="0">
                <a:solidFill>
                  <a:srgbClr val="2E53DF"/>
                </a:solidFill>
                <a:latin typeface="Calibri"/>
              </a:rPr>
              <a:t>05</a:t>
            </a:r>
          </a:p>
        </p:txBody>
      </p:sp>
      <p:sp>
        <p:nvSpPr>
          <p:cNvPr id="38" name="Oval 37"/>
          <p:cNvSpPr/>
          <p:nvPr/>
        </p:nvSpPr>
        <p:spPr>
          <a:xfrm>
            <a:off x="2908249" y="4389120"/>
            <a:ext cx="833932" cy="777240"/>
          </a:xfrm>
          <a:prstGeom prst="ellipse">
            <a:avLst/>
          </a:prstGeom>
          <a:solidFill>
            <a:srgbClr val="2E5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908249" y="4389120"/>
            <a:ext cx="833932" cy="7772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22195" y="5212080"/>
            <a:ext cx="260604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1" i="0">
                <a:solidFill>
                  <a:srgbClr val="1A1F2E"/>
                </a:solidFill>
                <a:latin typeface="Calibri"/>
              </a:rPr>
              <a:t>Customer Experience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22195" y="5513832"/>
            <a:ext cx="260604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1">
                <a:solidFill>
                  <a:srgbClr val="475569"/>
                </a:solidFill>
                <a:latin typeface="Calibri"/>
              </a:rPr>
              <a:t>Care Ops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92827" y="3886200"/>
            <a:ext cx="26060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792827" y="3886200"/>
            <a:ext cx="2606040" cy="182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57419" y="4160520"/>
            <a:ext cx="6400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06</a:t>
            </a:r>
          </a:p>
        </p:txBody>
      </p:sp>
      <p:sp>
        <p:nvSpPr>
          <p:cNvPr id="45" name="Oval 44"/>
          <p:cNvSpPr/>
          <p:nvPr/>
        </p:nvSpPr>
        <p:spPr>
          <a:xfrm>
            <a:off x="5678881" y="4389120"/>
            <a:ext cx="833932" cy="7772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678881" y="4389120"/>
            <a:ext cx="833932" cy="7772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92827" y="5212080"/>
            <a:ext cx="260604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1" i="0">
                <a:solidFill>
                  <a:srgbClr val="1A1F2E"/>
                </a:solidFill>
                <a:latin typeface="Calibri"/>
              </a:rPr>
              <a:t>ESG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92827" y="5513832"/>
            <a:ext cx="260604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1">
                <a:solidFill>
                  <a:srgbClr val="475569"/>
                </a:solidFill>
                <a:latin typeface="Calibri"/>
              </a:rPr>
              <a:t>Sustainability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63459" y="3886200"/>
            <a:ext cx="26060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563459" y="3886200"/>
            <a:ext cx="2606040" cy="1828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255099" y="3931920"/>
            <a:ext cx="822960" cy="292608"/>
          </a:xfrm>
          <a:prstGeom prst="roundRect">
            <a:avLst>
              <a:gd name="adj" fmla="val 40000"/>
            </a:avLst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255099" y="3931920"/>
            <a:ext cx="822960" cy="292608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★ LIVE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28051" y="4160520"/>
            <a:ext cx="6400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 i="0">
                <a:solidFill>
                  <a:srgbClr val="86BC25"/>
                </a:solidFill>
                <a:latin typeface="Calibri"/>
              </a:rPr>
              <a:t>07</a:t>
            </a:r>
          </a:p>
        </p:txBody>
      </p:sp>
      <p:sp>
        <p:nvSpPr>
          <p:cNvPr id="54" name="Oval 53"/>
          <p:cNvSpPr/>
          <p:nvPr/>
        </p:nvSpPr>
        <p:spPr>
          <a:xfrm>
            <a:off x="8449513" y="4389120"/>
            <a:ext cx="833932" cy="77724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449513" y="4389120"/>
            <a:ext cx="833932" cy="7772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63459" y="5212080"/>
            <a:ext cx="260604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1" i="0">
                <a:solidFill>
                  <a:srgbClr val="1A1F2E"/>
                </a:solidFill>
                <a:latin typeface="Calibri"/>
              </a:rPr>
              <a:t>CFMP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63459" y="5513832"/>
            <a:ext cx="260604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1">
                <a:solidFill>
                  <a:srgbClr val="475569"/>
                </a:solidFill>
                <a:latin typeface="Calibri"/>
              </a:rPr>
              <a:t>CMO · CX-VP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310896"/>
            <a:ext cx="10058400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1" i="0">
                <a:solidFill>
                  <a:srgbClr val="1A1F2E"/>
                </a:solidFill>
                <a:latin typeface="Calibri"/>
              </a:rPr>
              <a:t>Same structure. Every Pack.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86968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Ten slots. Identical contract. Predictable engineering.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28016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2200" b="1" i="0">
                <a:solidFill>
                  <a:srgbClr val="86BC25"/>
                </a:solidFill>
                <a:latin typeface="Calibr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21945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1288" y="2057400"/>
            <a:ext cx="877824" cy="86868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1288" y="2057400"/>
            <a:ext cx="877824" cy="8686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63240"/>
            <a:ext cx="219456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300" b="1" i="0">
                <a:solidFill>
                  <a:srgbClr val="1A1F2E"/>
                </a:solidFill>
                <a:latin typeface="Calibri"/>
              </a:rPr>
              <a:t>VV manifests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55848"/>
            <a:ext cx="219456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Federated views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61288" y="3685032"/>
            <a:ext cx="877824" cy="54864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788920" y="1783080"/>
            <a:ext cx="21945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47288" y="2057400"/>
            <a:ext cx="877824" cy="86868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47288" y="2057400"/>
            <a:ext cx="877824" cy="8686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063240"/>
            <a:ext cx="219456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300" b="1" i="0">
                <a:solidFill>
                  <a:srgbClr val="1A1F2E"/>
                </a:solidFill>
                <a:latin typeface="Calibri"/>
              </a:rPr>
              <a:t>Scenarios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3355848"/>
            <a:ext cx="219456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End-to-end outcomes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47288" y="3685032"/>
            <a:ext cx="877824" cy="54864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074920" y="1783080"/>
            <a:ext cx="21945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733288" y="2057400"/>
            <a:ext cx="877824" cy="86868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33288" y="2057400"/>
            <a:ext cx="877824" cy="8686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3063240"/>
            <a:ext cx="219456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300" b="1" i="0">
                <a:solidFill>
                  <a:srgbClr val="1A1F2E"/>
                </a:solidFill>
                <a:latin typeface="Calibri"/>
              </a:rPr>
              <a:t>Source adapters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355848"/>
            <a:ext cx="219456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System connectors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33288" y="3685032"/>
            <a:ext cx="877824" cy="54864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360920" y="1783080"/>
            <a:ext cx="21945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019288" y="2057400"/>
            <a:ext cx="877824" cy="86868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19288" y="2057400"/>
            <a:ext cx="877824" cy="8686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3063240"/>
            <a:ext cx="219456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300" b="1" i="0">
                <a:solidFill>
                  <a:srgbClr val="1A1F2E"/>
                </a:solidFill>
                <a:latin typeface="Calibri"/>
              </a:rPr>
              <a:t>Adaptive cards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3355848"/>
            <a:ext cx="219456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HITL surfaces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19288" y="3685032"/>
            <a:ext cx="877824" cy="54864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646920" y="1783080"/>
            <a:ext cx="21945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305288" y="2057400"/>
            <a:ext cx="877824" cy="86868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05288" y="2057400"/>
            <a:ext cx="877824" cy="8686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20" y="3063240"/>
            <a:ext cx="219456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300" b="1" i="0">
                <a:solidFill>
                  <a:srgbClr val="1A1F2E"/>
                </a:solidFill>
                <a:latin typeface="Calibri"/>
              </a:rPr>
              <a:t>Persona 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3355848"/>
            <a:ext cx="219456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Role bindings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05288" y="3685032"/>
            <a:ext cx="877824" cy="54864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886200"/>
            <a:ext cx="21945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61288" y="4160520"/>
            <a:ext cx="877824" cy="86868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61288" y="4160520"/>
            <a:ext cx="877824" cy="8686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166360"/>
            <a:ext cx="219456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300" b="1" i="0">
                <a:solidFill>
                  <a:srgbClr val="1A1F2E"/>
                </a:solidFill>
                <a:latin typeface="Calibri"/>
              </a:rPr>
              <a:t>Demo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458968"/>
            <a:ext cx="219456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Laptop-runnable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61288" y="5788152"/>
            <a:ext cx="877824" cy="54864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2788920" y="3886200"/>
            <a:ext cx="21945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3447288" y="4160520"/>
            <a:ext cx="877824" cy="86868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447288" y="4160520"/>
            <a:ext cx="877824" cy="8686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88920" y="5166360"/>
            <a:ext cx="219456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300" b="1" i="0">
                <a:solidFill>
                  <a:srgbClr val="1A1F2E"/>
                </a:solidFill>
                <a:latin typeface="Calibri"/>
              </a:rPr>
              <a:t>BVA worksheet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88920" y="5458968"/>
            <a:ext cx="219456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ROI calculator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47288" y="5788152"/>
            <a:ext cx="877824" cy="54864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5074920" y="3886200"/>
            <a:ext cx="21945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5733288" y="4160520"/>
            <a:ext cx="877824" cy="86868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733288" y="4160520"/>
            <a:ext cx="877824" cy="8686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74920" y="5166360"/>
            <a:ext cx="219456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300" b="1" i="0">
                <a:solidFill>
                  <a:srgbClr val="1A1F2E"/>
                </a:solidFill>
                <a:latin typeface="Calibri"/>
              </a:rPr>
              <a:t>Sample SOW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74920" y="5458968"/>
            <a:ext cx="219456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Tier templates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33288" y="5788152"/>
            <a:ext cx="877824" cy="54864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7360920" y="3886200"/>
            <a:ext cx="21945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8019288" y="4160520"/>
            <a:ext cx="877824" cy="86868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019288" y="4160520"/>
            <a:ext cx="877824" cy="8686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60920" y="5166360"/>
            <a:ext cx="219456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300" b="1" i="0">
                <a:solidFill>
                  <a:srgbClr val="1A1F2E"/>
                </a:solidFill>
                <a:latin typeface="Calibri"/>
              </a:rPr>
              <a:t>Acceptance tests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60920" y="5458968"/>
            <a:ext cx="219456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CI-green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19288" y="5788152"/>
            <a:ext cx="877824" cy="54864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9646920" y="3886200"/>
            <a:ext cx="219456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0305288" y="4160520"/>
            <a:ext cx="877824" cy="86868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305288" y="4160520"/>
            <a:ext cx="877824" cy="8686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46920" y="5166360"/>
            <a:ext cx="219456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300" b="1" i="0">
                <a:solidFill>
                  <a:srgbClr val="1A1F2E"/>
                </a:solidFill>
                <a:latin typeface="Calibri"/>
              </a:rPr>
              <a:t>Runbook + training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46920" y="5458968"/>
            <a:ext cx="219456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Calibri"/>
              </a:rPr>
              <a:t>Operate-ready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305288" y="5788152"/>
            <a:ext cx="877824" cy="54864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310896"/>
            <a:ext cx="10058400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1" i="0">
                <a:solidFill>
                  <a:srgbClr val="1A1F2E"/>
                </a:solidFill>
                <a:latin typeface="Calibri"/>
              </a:rPr>
              <a:t>Spotlight: CFMP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86968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Customer Focused Merchandise Pack v0.2 · Phase 1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28016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2200" b="1" i="0">
                <a:solidFill>
                  <a:srgbClr val="86BC25"/>
                </a:solidFill>
                <a:latin typeface="Calibr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486400" cy="4526280"/>
          </a:xfrm>
          <a:prstGeom prst="roundRect">
            <a:avLst>
              <a:gd name="adj" fmla="val 5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164592" cy="45262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5029200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CFMP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5029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BFDBFE"/>
                </a:solidFill>
                <a:latin typeface="Calibri"/>
              </a:rPr>
              <a:t>Customer Focused Merchandise Pack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17520"/>
            <a:ext cx="5029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 i="1">
                <a:solidFill>
                  <a:srgbClr val="CBD5E1"/>
                </a:solidFill>
                <a:latin typeface="Calibri"/>
              </a:rPr>
              <a:t>First customer-moment Industry Pack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57600"/>
            <a:ext cx="2468880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1" i="0">
                <a:solidFill>
                  <a:srgbClr val="86BC25"/>
                </a:solidFill>
                <a:latin typeface="Calibri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06240"/>
            <a:ext cx="246888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1">
                <a:solidFill>
                  <a:srgbClr val="CBD5E1"/>
                </a:solidFill>
                <a:latin typeface="Calibri"/>
              </a:rPr>
              <a:t>scenarios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657600"/>
            <a:ext cx="2468880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1" i="0">
                <a:solidFill>
                  <a:srgbClr val="86BC25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4206240"/>
            <a:ext cx="246888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1">
                <a:solidFill>
                  <a:srgbClr val="CBD5E1"/>
                </a:solidFill>
                <a:latin typeface="Calibri"/>
              </a:rPr>
              <a:t>new VVs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2468880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1" i="0">
                <a:solidFill>
                  <a:srgbClr val="86BC25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94960"/>
            <a:ext cx="246888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1">
                <a:solidFill>
                  <a:srgbClr val="CBD5E1"/>
                </a:solidFill>
                <a:latin typeface="Calibri"/>
              </a:rPr>
              <a:t>journey phases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846320"/>
            <a:ext cx="2468880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1" i="0">
                <a:solidFill>
                  <a:srgbClr val="86BC25"/>
                </a:solidFill>
                <a:latin typeface="Calibri"/>
              </a:rPr>
              <a:t>$150K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5394960"/>
            <a:ext cx="246888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1">
                <a:solidFill>
                  <a:srgbClr val="CBD5E1"/>
                </a:solidFill>
                <a:latin typeface="Calibri"/>
              </a:rPr>
              <a:t>Pack Lite (4-6 wks)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920240"/>
            <a:ext cx="53035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 i="0">
                <a:solidFill>
                  <a:srgbClr val="86BC25"/>
                </a:solidFill>
                <a:latin typeface="Calibri"/>
              </a:rPr>
              <a:t>18 SCENARIOS BY PHASE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240280"/>
            <a:ext cx="530352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  <a:latin typeface="Calibri"/>
              </a:rPr>
              <a:t>How the spine distributes scope.</a:t>
            </a:r>
          </a:p>
        </p:txBody>
      </p:sp>
      <p:sp>
        <p:nvSpPr>
          <p:cNvPr id="22" name="Pie 21"/>
          <p:cNvSpPr/>
          <p:nvPr/>
        </p:nvSpPr>
        <p:spPr>
          <a:xfrm>
            <a:off x="7589520" y="2377440"/>
            <a:ext cx="3108960" cy="3108960"/>
          </a:xfrm>
          <a:prstGeom prst="pie">
            <a:avLst>
              <a:gd name="adj1" fmla="val -9000000"/>
              <a:gd name="adj2" fmla="val 1000000"/>
            </a:avLst>
          </a:prstGeom>
          <a:solidFill>
            <a:srgbClr val="0078D4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Pie 22"/>
          <p:cNvSpPr/>
          <p:nvPr/>
        </p:nvSpPr>
        <p:spPr>
          <a:xfrm>
            <a:off x="7589520" y="2377440"/>
            <a:ext cx="3108960" cy="3108960"/>
          </a:xfrm>
          <a:prstGeom prst="pie">
            <a:avLst>
              <a:gd name="adj1" fmla="val 1000000"/>
              <a:gd name="adj2" fmla="val 13000000"/>
            </a:avLst>
          </a:prstGeom>
          <a:solidFill>
            <a:srgbClr val="86BC25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Pie 23"/>
          <p:cNvSpPr/>
          <p:nvPr/>
        </p:nvSpPr>
        <p:spPr>
          <a:xfrm>
            <a:off x="7589520" y="2377440"/>
            <a:ext cx="3108960" cy="3108960"/>
          </a:xfrm>
          <a:prstGeom prst="pie">
            <a:avLst>
              <a:gd name="adj1" fmla="val 13000000"/>
              <a:gd name="adj2" fmla="val 21000000"/>
            </a:avLst>
          </a:prstGeom>
          <a:solidFill>
            <a:srgbClr val="FF9900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Pie 24"/>
          <p:cNvSpPr/>
          <p:nvPr/>
        </p:nvSpPr>
        <p:spPr>
          <a:xfrm>
            <a:off x="7589520" y="2377440"/>
            <a:ext cx="3108960" cy="3108960"/>
          </a:xfrm>
          <a:prstGeom prst="pie">
            <a:avLst>
              <a:gd name="adj1" fmla="val 21000000"/>
              <a:gd name="adj2" fmla="val 27000000"/>
            </a:avLst>
          </a:prstGeom>
          <a:solidFill>
            <a:srgbClr val="B442CC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275320" y="3063240"/>
            <a:ext cx="1737360" cy="1737360"/>
          </a:xfrm>
          <a:prstGeom prst="ellipse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20" y="3063240"/>
            <a:ext cx="1737360" cy="173736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2200" b="1" i="0">
                <a:solidFill>
                  <a:srgbClr val="1A1F2E"/>
                </a:solidFill>
                <a:latin typeface="Calibri"/>
              </a:rPr>
              <a:t>18</a:t>
            </a:r>
          </a:p>
          <a:p>
            <a:pPr algn="ctr"/>
            <a:r>
              <a:rPr sz="2200" b="1" i="0">
                <a:solidFill>
                  <a:srgbClr val="1A1F2E"/>
                </a:solidFill>
                <a:latin typeface="Calibri"/>
              </a:rPr>
              <a:t>scenarios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697480"/>
            <a:ext cx="182880" cy="1828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0" y="2651760"/>
            <a:ext cx="24688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CHOOSE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862072"/>
            <a:ext cx="246888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5 scenarios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108960"/>
            <a:ext cx="182880" cy="1828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75120" y="3063240"/>
            <a:ext cx="24688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SELECT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273552"/>
            <a:ext cx="246888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6 scenarios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520440"/>
            <a:ext cx="182880" cy="1828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5120" y="3474720"/>
            <a:ext cx="24688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BUY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3685032"/>
            <a:ext cx="246888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4 scenarios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931920"/>
            <a:ext cx="182880" cy="182880"/>
          </a:xfrm>
          <a:prstGeom prst="rect">
            <a:avLst/>
          </a:prstGeom>
          <a:solidFill>
            <a:srgbClr val="B44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75120" y="3886200"/>
            <a:ext cx="24688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SERVICES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4096512"/>
            <a:ext cx="246888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3 scenarios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Open the demo. Talk through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0" i="1">
                <a:solidFill>
                  <a:srgbClr val="CBD5E1"/>
                </a:solidFill>
                <a:latin typeface="Calibri"/>
              </a:rPr>
              <a:t>Eight surfaces  ·  ten minutes  ·  let the agent answer for you.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10908792" cy="914400"/>
          </a:xfrm>
          <a:prstGeom prst="roundRect">
            <a:avLst>
              <a:gd name="adj" fmla="val 5000"/>
            </a:avLst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10908792" cy="9144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ca-visionkit-portal.gentlestone-9b49b099.eastus2.azurecontainerapps.io/architecture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023360"/>
            <a:ext cx="1280160" cy="731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" name="TextBox 8"/>
          <p:cNvSpPr txBox="1"/>
          <p:nvPr/>
        </p:nvSpPr>
        <p:spPr>
          <a:xfrm>
            <a:off x="640080" y="4278611"/>
            <a:ext cx="1280160" cy="221018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200" b="1" i="0">
                <a:solidFill>
                  <a:srgbClr val="0E1423"/>
                </a:solidFill>
                <a:latin typeface="Calibri"/>
              </a:rPr>
              <a:t>1  Demo 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29968" y="4023360"/>
            <a:ext cx="1280160" cy="731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" name="TextBox 10"/>
          <p:cNvSpPr txBox="1"/>
          <p:nvPr/>
        </p:nvSpPr>
        <p:spPr>
          <a:xfrm>
            <a:off x="2029968" y="4278611"/>
            <a:ext cx="1280160" cy="221018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200" b="1" i="0">
                <a:solidFill>
                  <a:srgbClr val="0E1423"/>
                </a:solidFill>
                <a:latin typeface="Calibri"/>
              </a:rPr>
              <a:t>2  “Where is X?”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9856" y="4023360"/>
            <a:ext cx="1280160" cy="731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3" name="TextBox 12"/>
          <p:cNvSpPr txBox="1"/>
          <p:nvPr/>
        </p:nvSpPr>
        <p:spPr>
          <a:xfrm>
            <a:off x="3419856" y="4278611"/>
            <a:ext cx="1280160" cy="221018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200" b="1" i="0">
                <a:solidFill>
                  <a:srgbClr val="0E1423"/>
                </a:solidFill>
                <a:latin typeface="Calibri"/>
              </a:rPr>
              <a:t>3  Dietary chip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9744" y="4023360"/>
            <a:ext cx="1280160" cy="731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5" name="TextBox 14"/>
          <p:cNvSpPr txBox="1"/>
          <p:nvPr/>
        </p:nvSpPr>
        <p:spPr>
          <a:xfrm>
            <a:off x="4809744" y="4278611"/>
            <a:ext cx="1280160" cy="221018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200" b="1" i="0">
                <a:solidFill>
                  <a:srgbClr val="0E1423"/>
                </a:solidFill>
                <a:latin typeface="Calibri"/>
              </a:rPr>
              <a:t>4  Cart click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4023360"/>
            <a:ext cx="1280160" cy="731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7" name="TextBox 16"/>
          <p:cNvSpPr txBox="1"/>
          <p:nvPr/>
        </p:nvSpPr>
        <p:spPr>
          <a:xfrm>
            <a:off x="6199632" y="4278611"/>
            <a:ext cx="1280160" cy="221018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200" b="1" i="0">
                <a:solidFill>
                  <a:srgbClr val="0E1423"/>
                </a:solidFill>
                <a:latin typeface="Calibri"/>
              </a:rPr>
              <a:t>5  /architecture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4023360"/>
            <a:ext cx="1280160" cy="731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9" name="TextBox 18"/>
          <p:cNvSpPr txBox="1"/>
          <p:nvPr/>
        </p:nvSpPr>
        <p:spPr>
          <a:xfrm>
            <a:off x="7589520" y="4278611"/>
            <a:ext cx="1280160" cy="221018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200" b="1" i="0">
                <a:solidFill>
                  <a:srgbClr val="0E1423"/>
                </a:solidFill>
                <a:latin typeface="Calibri"/>
              </a:rPr>
              <a:t>6  Details 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9408" y="4023360"/>
            <a:ext cx="1280160" cy="731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8979408" y="4278611"/>
            <a:ext cx="1280160" cy="221018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200" b="1" i="0">
                <a:solidFill>
                  <a:srgbClr val="0E1423"/>
                </a:solidFill>
                <a:latin typeface="Calibri"/>
              </a:rPr>
              <a:t>7  APEX value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69296" y="4023360"/>
            <a:ext cx="1280160" cy="731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3" name="TextBox 22"/>
          <p:cNvSpPr txBox="1"/>
          <p:nvPr/>
        </p:nvSpPr>
        <p:spPr>
          <a:xfrm>
            <a:off x="10369296" y="4278611"/>
            <a:ext cx="1280160" cy="221018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200" b="1" i="0">
                <a:solidFill>
                  <a:srgbClr val="0E1423"/>
                </a:solidFill>
                <a:latin typeface="Calibri"/>
              </a:rPr>
              <a:t>8  Tour flyout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120640"/>
            <a:ext cx="10908792" cy="1005840"/>
          </a:xfrm>
          <a:prstGeom prst="roundRect">
            <a:avLst>
              <a:gd name="adj" fmla="val 5000"/>
            </a:avLst>
          </a:prstGeom>
          <a:solidFill>
            <a:srgbClr val="0E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525780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Calibri"/>
              </a:rPr>
              <a:t>FIRST CLICK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Type into chat: “Where can I find the Coca-Cola?” — the wayfinding card lands in under 3 seconds.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310896"/>
            <a:ext cx="10058400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1" i="0">
                <a:solidFill>
                  <a:srgbClr val="1A1F2E"/>
                </a:solidFill>
                <a:latin typeface="Calibri"/>
              </a:rPr>
              <a:t>Engagement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86968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Five sellable tiers — stackable, additive.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28016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2200" b="1" i="0">
                <a:solidFill>
                  <a:srgbClr val="86BC25"/>
                </a:solidFill>
                <a:latin typeface="Calibri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224028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2240280" cy="7772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920239"/>
            <a:ext cx="22402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40279"/>
            <a:ext cx="224028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39"/>
            <a:ext cx="224028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000" b="1" i="0">
                <a:solidFill>
                  <a:srgbClr val="1A1F2E"/>
                </a:solidFill>
                <a:latin typeface="Calibri"/>
              </a:rPr>
              <a:t>$400–700K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91839"/>
            <a:ext cx="22402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Calibri"/>
              </a:rPr>
              <a:t>6–10 wks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703319"/>
            <a:ext cx="16916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4" name="TextBox 13"/>
          <p:cNvSpPr txBox="1"/>
          <p:nvPr/>
        </p:nvSpPr>
        <p:spPr>
          <a:xfrm>
            <a:off x="685800" y="3840479"/>
            <a:ext cx="1874520" cy="22101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A1F2E"/>
                </a:solidFill>
                <a:latin typeface="Calibri"/>
              </a:rPr>
              <a:t>·  Sold once per tenant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24527"/>
            <a:ext cx="1874520" cy="22101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A1F2E"/>
                </a:solidFill>
                <a:latin typeface="Calibri"/>
              </a:rPr>
              <a:t>·  VV runtime + LEDGER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608575"/>
            <a:ext cx="1874520" cy="22101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A1F2E"/>
                </a:solidFill>
                <a:latin typeface="Calibri"/>
              </a:rPr>
              <a:t>·  MCP auto-registration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1645920"/>
            <a:ext cx="224028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834640" y="1645920"/>
            <a:ext cx="2240280" cy="77724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34640" y="1691640"/>
            <a:ext cx="22402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011680"/>
            <a:ext cx="224028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606040"/>
            <a:ext cx="224028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000" b="1" i="0">
                <a:solidFill>
                  <a:srgbClr val="1A1F2E"/>
                </a:solidFill>
                <a:latin typeface="Calibri"/>
              </a:rPr>
              <a:t>$100K–$3.5M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3063240"/>
            <a:ext cx="22402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Calibri"/>
              </a:rPr>
              <a:t>4 wks – 9 mo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3474720"/>
            <a:ext cx="16916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4" name="TextBox 23"/>
          <p:cNvSpPr txBox="1"/>
          <p:nvPr/>
        </p:nvSpPr>
        <p:spPr>
          <a:xfrm>
            <a:off x="3017520" y="3611880"/>
            <a:ext cx="1874520" cy="22101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A1F2E"/>
                </a:solidFill>
                <a:latin typeface="Calibri"/>
              </a:rPr>
              <a:t>·  10-asset Pack bundle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995928"/>
            <a:ext cx="1874520" cy="22101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A1F2E"/>
                </a:solidFill>
                <a:latin typeface="Calibri"/>
              </a:rPr>
              <a:t>·  Lite / Standard / Enterprise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379976"/>
            <a:ext cx="1874520" cy="22101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A1F2E"/>
                </a:solidFill>
                <a:latin typeface="Calibri"/>
              </a:rPr>
              <a:t>·  Per-industry scope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46120" y="13716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46120" y="1430478"/>
            <a:ext cx="1417320" cy="174851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Target </a:t>
            </a:r>
            <a:r>
              <a:rPr lang="en-US" sz="900" b="1" dirty="0" err="1">
                <a:solidFill>
                  <a:srgbClr val="FFFFFF"/>
                </a:solidFill>
                <a:latin typeface="Calibri"/>
              </a:rPr>
              <a:t>Demployment</a:t>
            </a:r>
            <a:endParaRPr sz="9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166360" y="1874519"/>
            <a:ext cx="224028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166360" y="1874519"/>
            <a:ext cx="2240280" cy="7772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66360" y="1920239"/>
            <a:ext cx="22402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6360" y="2240279"/>
            <a:ext cx="224028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2834639"/>
            <a:ext cx="224028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000" b="1" i="0">
                <a:solidFill>
                  <a:srgbClr val="1A1F2E"/>
                </a:solidFill>
                <a:latin typeface="Calibri"/>
              </a:rPr>
              <a:t>$150–400K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60" y="3291839"/>
            <a:ext cx="22402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Calibri"/>
              </a:rPr>
              <a:t>4–8 wks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40680" y="3703319"/>
            <a:ext cx="16916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6" name="TextBox 35"/>
          <p:cNvSpPr txBox="1"/>
          <p:nvPr/>
        </p:nvSpPr>
        <p:spPr>
          <a:xfrm>
            <a:off x="5349240" y="3840479"/>
            <a:ext cx="1874520" cy="22101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A1F2E"/>
                </a:solidFill>
                <a:latin typeface="Calibri"/>
              </a:rPr>
              <a:t>·  One business outcome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4224527"/>
            <a:ext cx="1874520" cy="22101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A1F2E"/>
                </a:solidFill>
                <a:latin typeface="Calibri"/>
              </a:rPr>
              <a:t>·  Live on client sources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9240" y="4608575"/>
            <a:ext cx="1874520" cy="22101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A1F2E"/>
                </a:solidFill>
                <a:latin typeface="Calibri"/>
              </a:rPr>
              <a:t>·  Fixed fee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98080" y="1874519"/>
            <a:ext cx="224028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498080" y="1874519"/>
            <a:ext cx="2240280" cy="7772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98080" y="1920239"/>
            <a:ext cx="22402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0" y="2240279"/>
            <a:ext cx="224028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CUSTOM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0" y="2834639"/>
            <a:ext cx="224028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000" b="1" i="0">
                <a:solidFill>
                  <a:srgbClr val="1A1F2E"/>
                </a:solidFill>
                <a:latin typeface="Calibri"/>
              </a:rPr>
              <a:t>T&amp;M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0" y="3291839"/>
            <a:ext cx="22402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Calibri"/>
              </a:rPr>
              <a:t>Sprints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0" y="3703319"/>
            <a:ext cx="16916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6" name="TextBox 45"/>
          <p:cNvSpPr txBox="1"/>
          <p:nvPr/>
        </p:nvSpPr>
        <p:spPr>
          <a:xfrm>
            <a:off x="7680960" y="3840479"/>
            <a:ext cx="1874520" cy="22101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A1F2E"/>
                </a:solidFill>
                <a:latin typeface="Calibri"/>
              </a:rPr>
              <a:t>·  Net-new VV / scenario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4224527"/>
            <a:ext cx="1874520" cy="22101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A1F2E"/>
                </a:solidFill>
                <a:latin typeface="Calibri"/>
              </a:rPr>
              <a:t>·  Client-specific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4608575"/>
            <a:ext cx="1874520" cy="22101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A1F2E"/>
                </a:solidFill>
                <a:latin typeface="Calibri"/>
              </a:rPr>
              <a:t>·  Advisory + dev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829800" y="1874519"/>
            <a:ext cx="224028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829800" y="1874519"/>
            <a:ext cx="2240280" cy="7772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829800" y="1920239"/>
            <a:ext cx="22402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29800" y="2240279"/>
            <a:ext cx="224028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OPERATE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29800" y="2834639"/>
            <a:ext cx="224028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000" b="1" i="0">
                <a:solidFill>
                  <a:srgbClr val="1A1F2E"/>
                </a:solidFill>
                <a:latin typeface="Calibri"/>
              </a:rPr>
              <a:t>$/mo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29800" y="3291839"/>
            <a:ext cx="22402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Calibri"/>
              </a:rPr>
              <a:t>Continuous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104120" y="3703319"/>
            <a:ext cx="16916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6" name="TextBox 55"/>
          <p:cNvSpPr txBox="1"/>
          <p:nvPr/>
        </p:nvSpPr>
        <p:spPr>
          <a:xfrm>
            <a:off x="10012680" y="3840479"/>
            <a:ext cx="1874520" cy="22101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A1F2E"/>
                </a:solidFill>
                <a:latin typeface="Calibri"/>
              </a:rPr>
              <a:t>·  24×7 monitoring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12680" y="4224527"/>
            <a:ext cx="1874520" cy="22101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A1F2E"/>
                </a:solidFill>
                <a:latin typeface="Calibri"/>
              </a:rPr>
              <a:t>·  Threshold tuning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12680" y="4608575"/>
            <a:ext cx="1874520" cy="22101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A1F2E"/>
                </a:solidFill>
                <a:latin typeface="Calibri"/>
              </a:rPr>
              <a:t>·  Run-rate revenue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310896"/>
            <a:ext cx="10058400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1" i="0">
                <a:solidFill>
                  <a:srgbClr val="1A1F2E"/>
                </a:solidFill>
                <a:latin typeface="Calibri"/>
              </a:rPr>
              <a:t>Independence  —  non-negotiable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86968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Deloitte audits Microsoft. SEC rules shape every engagement.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28016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2200" b="1" i="0">
                <a:solidFill>
                  <a:srgbClr val="86BC25"/>
                </a:solidFill>
                <a:latin typeface="Calibr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57784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577840" cy="6400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57784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   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989320"/>
            <a:ext cx="5577840" cy="36576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2697480"/>
            <a:ext cx="274320" cy="27432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697480"/>
            <a:ext cx="2743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651760"/>
            <a:ext cx="4800600" cy="4114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0" i="0">
                <a:solidFill>
                  <a:srgbClr val="1A1F2E"/>
                </a:solidFill>
                <a:latin typeface="Calibri"/>
              </a:rPr>
              <a:t>BVA (client-funded discovery)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264408"/>
            <a:ext cx="274320" cy="27432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264408"/>
            <a:ext cx="2743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18688"/>
            <a:ext cx="4800600" cy="4114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0" i="0">
                <a:solidFill>
                  <a:srgbClr val="1A1F2E"/>
                </a:solidFill>
                <a:latin typeface="Calibri"/>
              </a:rPr>
              <a:t>DCIF (Deloitte co-invest fund)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831336"/>
            <a:ext cx="274320" cy="27432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831336"/>
            <a:ext cx="2743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785616"/>
            <a:ext cx="4800600" cy="4114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0" i="0">
                <a:solidFill>
                  <a:srgbClr val="1A1F2E"/>
                </a:solidFill>
                <a:latin typeface="Calibri"/>
              </a:rPr>
              <a:t>ISV Marketplace burndown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398264"/>
            <a:ext cx="274320" cy="27432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398264"/>
            <a:ext cx="2743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352544"/>
            <a:ext cx="4800600" cy="4114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0" i="0">
                <a:solidFill>
                  <a:srgbClr val="1A1F2E"/>
                </a:solidFill>
                <a:latin typeface="Calibri"/>
              </a:rPr>
              <a:t>SI Teaming POC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4965192"/>
            <a:ext cx="274320" cy="27432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965192"/>
            <a:ext cx="2743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919472"/>
            <a:ext cx="4800600" cy="4114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0" i="0">
                <a:solidFill>
                  <a:srgbClr val="1A1F2E"/>
                </a:solidFill>
                <a:latin typeface="Calibri"/>
              </a:rPr>
              <a:t>T&amp;M  ·  Client direct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178308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A0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1783080"/>
            <a:ext cx="5486400" cy="640080"/>
          </a:xfrm>
          <a:prstGeom prst="rect">
            <a:avLst/>
          </a:prstGeom>
          <a:solidFill>
            <a:srgbClr val="A0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1783080"/>
            <a:ext cx="548640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✕   DO NOT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5989320"/>
            <a:ext cx="5486400" cy="365760"/>
          </a:xfrm>
          <a:prstGeom prst="rect">
            <a:avLst/>
          </a:prstGeom>
          <a:solidFill>
            <a:srgbClr val="FD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537960" y="2697480"/>
            <a:ext cx="274320" cy="274320"/>
          </a:xfrm>
          <a:prstGeom prst="ellipse">
            <a:avLst/>
          </a:prstGeom>
          <a:solidFill>
            <a:srgbClr val="A0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2697480"/>
            <a:ext cx="2743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651760"/>
            <a:ext cx="4709160" cy="4114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0" i="0">
                <a:solidFill>
                  <a:srgbClr val="1A1F2E"/>
                </a:solidFill>
                <a:latin typeface="Calibri"/>
              </a:rPr>
              <a:t>Route ECIF through Deloitte</a:t>
            </a:r>
          </a:p>
        </p:txBody>
      </p:sp>
      <p:sp>
        <p:nvSpPr>
          <p:cNvPr id="33" name="Oval 32"/>
          <p:cNvSpPr/>
          <p:nvPr/>
        </p:nvSpPr>
        <p:spPr>
          <a:xfrm>
            <a:off x="6537960" y="3264408"/>
            <a:ext cx="274320" cy="274320"/>
          </a:xfrm>
          <a:prstGeom prst="ellipse">
            <a:avLst/>
          </a:prstGeom>
          <a:solidFill>
            <a:srgbClr val="A0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3264408"/>
            <a:ext cx="2743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218688"/>
            <a:ext cx="4709160" cy="4114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0" i="0">
                <a:solidFill>
                  <a:srgbClr val="1A1F2E"/>
                </a:solidFill>
                <a:latin typeface="Calibri"/>
              </a:rPr>
              <a:t>Use “partnership” / “alliance” language</a:t>
            </a:r>
          </a:p>
        </p:txBody>
      </p:sp>
      <p:sp>
        <p:nvSpPr>
          <p:cNvPr id="36" name="Oval 35"/>
          <p:cNvSpPr/>
          <p:nvPr/>
        </p:nvSpPr>
        <p:spPr>
          <a:xfrm>
            <a:off x="6537960" y="3831336"/>
            <a:ext cx="274320" cy="274320"/>
          </a:xfrm>
          <a:prstGeom prst="ellipse">
            <a:avLst/>
          </a:prstGeom>
          <a:solidFill>
            <a:srgbClr val="A0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37960" y="3831336"/>
            <a:ext cx="2743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3785616"/>
            <a:ext cx="4709160" cy="4114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0" i="0">
                <a:solidFill>
                  <a:srgbClr val="1A1F2E"/>
                </a:solidFill>
                <a:latin typeface="Calibri"/>
              </a:rPr>
              <a:t>Take Microsoft co-sell credit</a:t>
            </a:r>
          </a:p>
        </p:txBody>
      </p:sp>
      <p:sp>
        <p:nvSpPr>
          <p:cNvPr id="39" name="Oval 38"/>
          <p:cNvSpPr/>
          <p:nvPr/>
        </p:nvSpPr>
        <p:spPr>
          <a:xfrm>
            <a:off x="6537960" y="4398264"/>
            <a:ext cx="274320" cy="274320"/>
          </a:xfrm>
          <a:prstGeom prst="ellipse">
            <a:avLst/>
          </a:prstGeom>
          <a:solidFill>
            <a:srgbClr val="A0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37960" y="4398264"/>
            <a:ext cx="2743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4352544"/>
            <a:ext cx="4709160" cy="4114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0" i="0">
                <a:solidFill>
                  <a:srgbClr val="1A1F2E"/>
                </a:solidFill>
                <a:latin typeface="Calibri"/>
              </a:rPr>
              <a:t>Sell APEX itself (Deloitte IP)</a:t>
            </a:r>
          </a:p>
        </p:txBody>
      </p:sp>
      <p:sp>
        <p:nvSpPr>
          <p:cNvPr id="42" name="Oval 41"/>
          <p:cNvSpPr/>
          <p:nvPr/>
        </p:nvSpPr>
        <p:spPr>
          <a:xfrm>
            <a:off x="6537960" y="4965192"/>
            <a:ext cx="274320" cy="274320"/>
          </a:xfrm>
          <a:prstGeom prst="ellipse">
            <a:avLst/>
          </a:prstGeom>
          <a:solidFill>
            <a:srgbClr val="A0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37960" y="4965192"/>
            <a:ext cx="2743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4919472"/>
            <a:ext cx="4709160" cy="4114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0" i="0">
                <a:solidFill>
                  <a:srgbClr val="1A1F2E"/>
                </a:solidFill>
                <a:latin typeface="Calibri"/>
              </a:rPr>
              <a:t>Imply joint commercial entity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310896"/>
            <a:ext cx="10058400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1" i="0">
                <a:solidFill>
                  <a:srgbClr val="1A1F2E"/>
                </a:solidFill>
                <a:latin typeface="Calibri"/>
              </a:rPr>
              <a:t>What we sell  ·  What we don't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86968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Single most important framing — repeat every meeting.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28016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2200" b="1" i="0">
                <a:solidFill>
                  <a:srgbClr val="86BC25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577840" cy="4572000"/>
          </a:xfrm>
          <a:prstGeom prst="roundRect">
            <a:avLst>
              <a:gd name="adj" fmla="val 5000"/>
            </a:avLst>
          </a:prstGeom>
          <a:solidFill>
            <a:srgbClr val="FDF4F4"/>
          </a:solidFill>
          <a:ln w="6350">
            <a:solidFill>
              <a:srgbClr val="A0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989320"/>
            <a:ext cx="5577840" cy="365760"/>
          </a:xfrm>
          <a:prstGeom prst="rect">
            <a:avLst/>
          </a:prstGeom>
          <a:solidFill>
            <a:srgbClr val="A0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834640" y="2103120"/>
            <a:ext cx="914400" cy="914400"/>
          </a:xfrm>
          <a:prstGeom prst="ellipse">
            <a:avLst/>
          </a:prstGeom>
          <a:solidFill>
            <a:srgbClr val="A0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40" y="2103120"/>
            <a:ext cx="914400" cy="9144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00400"/>
            <a:ext cx="5577840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800" b="1" i="0">
                <a:solidFill>
                  <a:srgbClr val="A03535"/>
                </a:solidFill>
                <a:latin typeface="Calibri"/>
              </a:rPr>
              <a:t>NOT a 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40480"/>
            <a:ext cx="557784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Calibri"/>
              </a:rPr>
              <a:t>—  the client does not buy APEX  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530352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0" i="0">
                <a:solidFill>
                  <a:srgbClr val="1A1F2E"/>
                </a:solidFill>
                <a:latin typeface="Calibri"/>
              </a:rPr>
              <a:t>·  Not a 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64024"/>
            <a:ext cx="530352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0" i="0">
                <a:solidFill>
                  <a:srgbClr val="1A1F2E"/>
                </a:solidFill>
                <a:latin typeface="Calibri"/>
              </a:rPr>
              <a:t>·  Not a license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93207"/>
            <a:ext cx="530352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0" i="0">
                <a:solidFill>
                  <a:srgbClr val="1A1F2E"/>
                </a:solidFill>
                <a:latin typeface="Calibri"/>
              </a:rPr>
              <a:t>·  Not a subscription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22392"/>
            <a:ext cx="530352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0" i="0">
                <a:solidFill>
                  <a:srgbClr val="1A1F2E"/>
                </a:solidFill>
                <a:latin typeface="Calibri"/>
              </a:rPr>
              <a:t>·  Not Microsoft co-sell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F1F8E9"/>
          </a:solidFill>
          <a:ln w="635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5989320"/>
            <a:ext cx="5486400" cy="36576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549640" y="2103120"/>
            <a:ext cx="914400" cy="91440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49640" y="2103120"/>
            <a:ext cx="914400" cy="9144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200400"/>
            <a:ext cx="5486400" cy="6400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400" b="1" i="0">
                <a:solidFill>
                  <a:srgbClr val="5A830F"/>
                </a:solidFill>
                <a:latin typeface="Calibri"/>
              </a:rPr>
              <a:t>Deloitte delivery framework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840480"/>
            <a:ext cx="54864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 i="1">
                <a:solidFill>
                  <a:srgbClr val="475569"/>
                </a:solidFill>
                <a:latin typeface="Calibri"/>
              </a:rPr>
              <a:t>—  the client engages Deloitte  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434840"/>
            <a:ext cx="512064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0" i="0">
                <a:solidFill>
                  <a:srgbClr val="1A1F2E"/>
                </a:solidFill>
                <a:latin typeface="Calibri"/>
              </a:rPr>
              <a:t>·  Sell  Deloitte agentic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764024"/>
            <a:ext cx="512064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0" i="0">
                <a:solidFill>
                  <a:srgbClr val="1A1F2E"/>
                </a:solidFill>
                <a:latin typeface="Calibri"/>
              </a:rPr>
              <a:t>·  Scoped per Pack · per tier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093207"/>
            <a:ext cx="512064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0" i="0">
                <a:solidFill>
                  <a:srgbClr val="1A1F2E"/>
                </a:solidFill>
                <a:latin typeface="Calibri"/>
              </a:rPr>
              <a:t>·  Funded via standard envelope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422392"/>
            <a:ext cx="512064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0" i="0">
                <a:solidFill>
                  <a:srgbClr val="1A1F2E"/>
                </a:solidFill>
                <a:latin typeface="Calibri"/>
              </a:rPr>
              <a:t>·  Framework is Deloitte IP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310896"/>
            <a:ext cx="10058400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1" i="0" dirty="0">
                <a:solidFill>
                  <a:srgbClr val="1A1F2E"/>
                </a:solidFill>
                <a:latin typeface="Calibri"/>
              </a:rPr>
              <a:t>The wedge  —  BVA → Pack Lite → Standard → Enterprise → Operate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267107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 dirty="0">
                <a:solidFill>
                  <a:srgbClr val="475569"/>
                </a:solidFill>
                <a:latin typeface="Calibri"/>
              </a:rPr>
              <a:t>Each step earns the next. Nothing gets redone.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28016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2200" b="1" i="0">
                <a:solidFill>
                  <a:srgbClr val="86BC25"/>
                </a:solidFill>
                <a:latin typeface="Calibr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530352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530352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 i="0">
                <a:solidFill>
                  <a:srgbClr val="1A1F2E"/>
                </a:solidFill>
                <a:latin typeface="Calibri"/>
              </a:rPr>
              <a:t>Engagement value, $ (illustrative)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529938"/>
            <a:ext cx="786384" cy="4206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617720"/>
            <a:ext cx="877824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475569"/>
                </a:solidFill>
                <a:latin typeface="Calibri"/>
              </a:rPr>
              <a:t>BVA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37944" y="4403751"/>
            <a:ext cx="786384" cy="168249"/>
          </a:xfrm>
          <a:prstGeom prst="rect">
            <a:avLst/>
          </a:prstGeom>
          <a:solidFill>
            <a:srgbClr val="5A8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37944" y="4617720"/>
            <a:ext cx="877824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475569"/>
                </a:solidFill>
                <a:latin typeface="Calibri"/>
              </a:rPr>
              <a:t>Lite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07208" y="3730752"/>
            <a:ext cx="786384" cy="84124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07208" y="3456432"/>
            <a:ext cx="877824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900" b="1" i="0">
                <a:solidFill>
                  <a:srgbClr val="1A1F2E"/>
                </a:solidFill>
                <a:latin typeface="Calibri"/>
              </a:rPr>
              <a:t>$500K-1.5M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4617720"/>
            <a:ext cx="877824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475569"/>
                </a:solidFill>
                <a:latin typeface="Calibri"/>
              </a:rPr>
              <a:t>Std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76472" y="2468880"/>
            <a:ext cx="786384" cy="2103120"/>
          </a:xfrm>
          <a:prstGeom prst="rect">
            <a:avLst/>
          </a:prstGeom>
          <a:solidFill>
            <a:srgbClr val="14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76472" y="2194560"/>
            <a:ext cx="877824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900" b="1" i="0">
                <a:solidFill>
                  <a:srgbClr val="1A1F2E"/>
                </a:solidFill>
                <a:latin typeface="Calibri"/>
              </a:rPr>
              <a:t>$1.5-3.5M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4617720"/>
            <a:ext cx="877824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475569"/>
                </a:solidFill>
                <a:latin typeface="Calibri"/>
              </a:rPr>
              <a:t>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45736" y="4235501"/>
            <a:ext cx="786384" cy="336499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45736" y="4617720"/>
            <a:ext cx="877824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475569"/>
                </a:solidFill>
                <a:latin typeface="Calibri"/>
              </a:rPr>
              <a:t>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572000"/>
            <a:ext cx="4754880" cy="1828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80760" y="1874519"/>
            <a:ext cx="566928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1A1F2E"/>
                </a:solidFill>
                <a:latin typeface="Calibri"/>
              </a:rPr>
              <a:t>The motion · 5 steps</a:t>
            </a:r>
          </a:p>
        </p:txBody>
      </p:sp>
      <p:sp>
        <p:nvSpPr>
          <p:cNvPr id="23" name="Oval 22"/>
          <p:cNvSpPr/>
          <p:nvPr/>
        </p:nvSpPr>
        <p:spPr>
          <a:xfrm>
            <a:off x="6080760" y="2285999"/>
            <a:ext cx="548640" cy="54864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80760" y="2285999"/>
            <a:ext cx="548640" cy="5486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285999"/>
            <a:ext cx="2194560" cy="29260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 i="0">
                <a:solidFill>
                  <a:srgbClr val="1A1F2E"/>
                </a:solidFill>
                <a:latin typeface="Calibri"/>
              </a:rPr>
              <a:t>BVA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560319"/>
            <a:ext cx="219456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  <a:latin typeface="Calibri"/>
              </a:rPr>
              <a:t>4 hrs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20" y="2377439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89720" y="2377439"/>
            <a:ext cx="2468880" cy="384048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Free</a:t>
            </a:r>
          </a:p>
        </p:txBody>
      </p:sp>
      <p:sp>
        <p:nvSpPr>
          <p:cNvPr id="29" name="Oval 28"/>
          <p:cNvSpPr/>
          <p:nvPr/>
        </p:nvSpPr>
        <p:spPr>
          <a:xfrm>
            <a:off x="6080760" y="2999231"/>
            <a:ext cx="548640" cy="548640"/>
          </a:xfrm>
          <a:prstGeom prst="ellipse">
            <a:avLst/>
          </a:prstGeom>
          <a:solidFill>
            <a:srgbClr val="5A8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80760" y="2999231"/>
            <a:ext cx="548640" cy="5486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2999231"/>
            <a:ext cx="2194560" cy="29260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 i="0">
                <a:solidFill>
                  <a:srgbClr val="1A1F2E"/>
                </a:solidFill>
                <a:latin typeface="Calibri"/>
              </a:rPr>
              <a:t>Pack Lite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273551"/>
            <a:ext cx="219456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  <a:latin typeface="Calibri"/>
              </a:rPr>
              <a:t>4-6 wks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3090671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5A8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89720" y="3090671"/>
            <a:ext cx="2468880" cy="384048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$150-250K</a:t>
            </a:r>
          </a:p>
        </p:txBody>
      </p:sp>
      <p:sp>
        <p:nvSpPr>
          <p:cNvPr id="35" name="Oval 34"/>
          <p:cNvSpPr/>
          <p:nvPr/>
        </p:nvSpPr>
        <p:spPr>
          <a:xfrm>
            <a:off x="6080760" y="3712463"/>
            <a:ext cx="548640" cy="548640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80760" y="3712463"/>
            <a:ext cx="548640" cy="5486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712463"/>
            <a:ext cx="2194560" cy="29260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 i="0">
                <a:solidFill>
                  <a:srgbClr val="1A1F2E"/>
                </a:solidFill>
                <a:latin typeface="Calibri"/>
              </a:rPr>
              <a:t>Standard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3986783"/>
            <a:ext cx="219456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  <a:latin typeface="Calibri"/>
              </a:rPr>
              <a:t>12-16 wks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89720" y="3803903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89720" y="3803903"/>
            <a:ext cx="2468880" cy="384048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$500K-1.5M</a:t>
            </a:r>
          </a:p>
        </p:txBody>
      </p:sp>
      <p:sp>
        <p:nvSpPr>
          <p:cNvPr id="41" name="Oval 40"/>
          <p:cNvSpPr/>
          <p:nvPr/>
        </p:nvSpPr>
        <p:spPr>
          <a:xfrm>
            <a:off x="6080760" y="4425695"/>
            <a:ext cx="548640" cy="548640"/>
          </a:xfrm>
          <a:prstGeom prst="ellipse">
            <a:avLst/>
          </a:prstGeom>
          <a:solidFill>
            <a:srgbClr val="14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080760" y="4425695"/>
            <a:ext cx="548640" cy="5486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4425695"/>
            <a:ext cx="2194560" cy="29260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 i="0">
                <a:solidFill>
                  <a:srgbClr val="1A1F2E"/>
                </a:solidFill>
                <a:latin typeface="Calibri"/>
              </a:rPr>
              <a:t>Enterprise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4700015"/>
            <a:ext cx="219456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  <a:latin typeface="Calibri"/>
              </a:rPr>
              <a:t>6-9 mo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89720" y="4517135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14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89720" y="4517135"/>
            <a:ext cx="2468880" cy="384048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$1.5-3.5M</a:t>
            </a:r>
          </a:p>
        </p:txBody>
      </p:sp>
      <p:sp>
        <p:nvSpPr>
          <p:cNvPr id="47" name="Oval 46"/>
          <p:cNvSpPr/>
          <p:nvPr/>
        </p:nvSpPr>
        <p:spPr>
          <a:xfrm>
            <a:off x="6080760" y="5138927"/>
            <a:ext cx="548640" cy="548640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080760" y="5138927"/>
            <a:ext cx="548640" cy="5486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5138927"/>
            <a:ext cx="2194560" cy="29260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 i="0">
                <a:solidFill>
                  <a:srgbClr val="1A1F2E"/>
                </a:solidFill>
                <a:latin typeface="Calibri"/>
              </a:rPr>
              <a:t>Operate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413247"/>
            <a:ext cx="219456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  <a:latin typeface="Calibri"/>
              </a:rPr>
              <a:t>Ongoing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89720" y="5230367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89720" y="5230367"/>
            <a:ext cx="2468880" cy="384048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$/mo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310896"/>
            <a:ext cx="10058400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1" i="0">
                <a:solidFill>
                  <a:srgbClr val="1A1F2E"/>
                </a:solidFill>
                <a:latin typeface="Calibri"/>
              </a:rPr>
              <a:t>The questions you'll hear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886968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Six openers cover ~90% of the first ten minutes.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28016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2200" b="1" i="0">
                <a:solidFill>
                  <a:srgbClr val="86BC25"/>
                </a:solidFill>
                <a:latin typeface="Calibr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37033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vatar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74520"/>
            <a:ext cx="914400" cy="9144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280160" y="1874520"/>
            <a:ext cx="365760" cy="3657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1874520"/>
            <a:ext cx="365760" cy="36576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965960"/>
            <a:ext cx="2423160" cy="11887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1" i="0">
                <a:solidFill>
                  <a:srgbClr val="1A1F2E"/>
                </a:solidFill>
                <a:latin typeface="Calibri"/>
              </a:rPr>
              <a:t>Is this Microsoft's product?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886200"/>
            <a:ext cx="3703320" cy="9144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43400" y="1783080"/>
            <a:ext cx="37033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avatar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874520"/>
            <a:ext cx="914400" cy="914400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120640" y="1874520"/>
            <a:ext cx="365760" cy="3657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0" y="1874520"/>
            <a:ext cx="365760" cy="36576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1965960"/>
            <a:ext cx="2423160" cy="11887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1" i="0">
                <a:solidFill>
                  <a:srgbClr val="1A1F2E"/>
                </a:solidFill>
                <a:latin typeface="Calibri"/>
              </a:rPr>
              <a:t>Can we buy APEX?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886200"/>
            <a:ext cx="3703320" cy="9144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183880" y="1783080"/>
            <a:ext cx="37033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avatar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874520"/>
            <a:ext cx="914400" cy="914400"/>
          </a:xfrm>
          <a:prstGeom prst="rect">
            <a:avLst/>
          </a:prstGeom>
        </p:spPr>
      </p:pic>
      <p:sp>
        <p:nvSpPr>
          <p:cNvPr id="21" name="Oval 20"/>
          <p:cNvSpPr/>
          <p:nvPr/>
        </p:nvSpPr>
        <p:spPr>
          <a:xfrm>
            <a:off x="8961120" y="1874520"/>
            <a:ext cx="365760" cy="3657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0" y="1874520"/>
            <a:ext cx="365760" cy="36576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1965960"/>
            <a:ext cx="2423160" cy="11887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1" i="0">
                <a:solidFill>
                  <a:srgbClr val="1A1F2E"/>
                </a:solidFill>
                <a:latin typeface="Calibri"/>
              </a:rPr>
              <a:t>How is this different from Foundry?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80" y="3886200"/>
            <a:ext cx="3703320" cy="9144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02920" y="4114800"/>
            <a:ext cx="37033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avatar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206240"/>
            <a:ext cx="914400" cy="914400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1280160" y="4206240"/>
            <a:ext cx="365760" cy="3657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280160" y="4206240"/>
            <a:ext cx="365760" cy="36576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4297680"/>
            <a:ext cx="2423160" cy="11887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1" i="0">
                <a:solidFill>
                  <a:srgbClr val="1A1F2E"/>
                </a:solidFill>
                <a:latin typeface="Calibri"/>
              </a:rPr>
              <a:t>What if we're on AWS / Google?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217920"/>
            <a:ext cx="3703320" cy="9144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343400" y="4114800"/>
            <a:ext cx="37033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avatar_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4206240"/>
            <a:ext cx="914400" cy="914400"/>
          </a:xfrm>
          <a:prstGeom prst="rect">
            <a:avLst/>
          </a:prstGeom>
        </p:spPr>
      </p:pic>
      <p:sp>
        <p:nvSpPr>
          <p:cNvPr id="33" name="Oval 32"/>
          <p:cNvSpPr/>
          <p:nvPr/>
        </p:nvSpPr>
        <p:spPr>
          <a:xfrm>
            <a:off x="5120640" y="4206240"/>
            <a:ext cx="365760" cy="3657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20640" y="4206240"/>
            <a:ext cx="365760" cy="36576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4297680"/>
            <a:ext cx="2423160" cy="11887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1" i="0">
                <a:solidFill>
                  <a:srgbClr val="1A1F2E"/>
                </a:solidFill>
                <a:latin typeface="Calibri"/>
              </a:rPr>
              <a:t>How fast can we see something working?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6217920"/>
            <a:ext cx="3703320" cy="9144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183880" y="4114800"/>
            <a:ext cx="37033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avatar_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4206240"/>
            <a:ext cx="914400" cy="914400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8961120" y="4206240"/>
            <a:ext cx="365760" cy="3657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961120" y="4206240"/>
            <a:ext cx="365760" cy="36576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4297680"/>
            <a:ext cx="2423160" cy="11887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1" i="0">
                <a:solidFill>
                  <a:srgbClr val="1A1F2E"/>
                </a:solidFill>
                <a:latin typeface="Calibri"/>
              </a:rPr>
              <a:t>What does the audit story look like?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83880" y="6217920"/>
            <a:ext cx="3703320" cy="9144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920" y="6080760"/>
            <a:ext cx="112471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200" b="0" i="1">
                <a:solidFill>
                  <a:srgbClr val="475569"/>
                </a:solidFill>
                <a:latin typeface="Calibri"/>
              </a:rPr>
              <a:t>If stuck for 30 seconds — redirect:  “Let me show you in the live demo, it's faster.”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ro_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48640"/>
            <a:ext cx="12191695" cy="5303520"/>
          </a:xfrm>
          <a:prstGeom prst="rect">
            <a:avLst/>
          </a:prstGeom>
          <a:solidFill>
            <a:srgbClr val="0E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82880" cy="53035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0" i="1">
                <a:solidFill>
                  <a:srgbClr val="CBD5E1"/>
                </a:solidFill>
                <a:latin typeface="Calibri"/>
              </a:rPr>
              <a:t>Three actions  ·  every DMTSP seller  ·  every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645920" cy="10058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7200" b="1" i="0">
                <a:solidFill>
                  <a:srgbClr val="86BC25"/>
                </a:solidFill>
                <a:latin typeface="Calibr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337560"/>
            <a:ext cx="1371600" cy="54864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68880" y="2468880"/>
            <a:ext cx="91440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OPEN  the 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017520"/>
            <a:ext cx="91440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1">
                <a:solidFill>
                  <a:srgbClr val="CBD5E1"/>
                </a:solidFill>
                <a:latin typeface="Calibri"/>
              </a:rPr>
              <a:t>60 minutes  ·  one client meeting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1645920" cy="10058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7200" b="1" i="0">
                <a:solidFill>
                  <a:srgbClr val="86BC25"/>
                </a:solidFill>
                <a:latin typeface="Calibri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480560"/>
            <a:ext cx="1371600" cy="54864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68880" y="3611880"/>
            <a:ext cx="91440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BOOK  the  BVA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160520"/>
            <a:ext cx="91440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1">
                <a:solidFill>
                  <a:srgbClr val="CBD5E1"/>
                </a:solidFill>
                <a:latin typeface="Calibri"/>
              </a:rPr>
              <a:t>4 hours  ·  client-funded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63440"/>
            <a:ext cx="1645920" cy="10058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7200" b="1" i="0">
                <a:solidFill>
                  <a:srgbClr val="86BC25"/>
                </a:solidFill>
                <a:latin typeface="Calibri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623560"/>
            <a:ext cx="1371600" cy="54864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68880" y="4754880"/>
            <a:ext cx="91440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SIGN  Pack Lite SOW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5303520"/>
            <a:ext cx="91440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1">
                <a:solidFill>
                  <a:srgbClr val="CBD5E1"/>
                </a:solidFill>
                <a:latin typeface="Calibri"/>
              </a:rPr>
              <a:t>DCIF  ·  $150-250K  ·  4-6 wks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5989320"/>
            <a:ext cx="12191695" cy="5029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0" y="5989320"/>
            <a:ext cx="12191695" cy="5029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ca-visionkit-portal.gentlestone-9b49b099.eastus2.azurecontainerapps.io/architecture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1231</Words>
  <Application>Microsoft Office PowerPoint</Application>
  <PresentationFormat>Widescreen</PresentationFormat>
  <Paragraphs>364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Markham, Keven</cp:lastModifiedBy>
  <cp:revision>2</cp:revision>
  <dcterms:created xsi:type="dcterms:W3CDTF">2013-01-27T09:14:16Z</dcterms:created>
  <dcterms:modified xsi:type="dcterms:W3CDTF">2026-05-23T17:47:20Z</dcterms:modified>
  <cp:category/>
</cp:coreProperties>
</file>
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914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6BC25"/>
                </a:solidFill>
                <a:latin typeface="Calibri"/>
              </a:rPr>
              <a:t>APEX · BVA WORKSHOP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Calibri"/>
              </a:rPr>
              <a:t>Business Value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86BC25"/>
                </a:solidFill>
                <a:latin typeface="Calibri"/>
              </a:rPr>
              <a:t>A 4-Hour Conversation with Your CMO, CX, Privacy, and Cloud Architecture Leads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35B6B"/>
                </a:solidFill>
                <a:latin typeface="Calibri"/>
              </a:rPr>
              <a:t>Outcome of this session: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0911535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Shortlisted 3-5 in-scope scenarios  ·  Populated ROI calculator  ·  Pack Lite SOW skeleton ready for redline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Deloitte's Microsoft Technology &amp; Services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Facilitator: [LCSP_NAME]  ·  Client: [CLIENT_NAME]  · 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00:00 – 00:10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Welcome &amp; introductions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alibri"/>
              </a:rPr>
              <a:t>Around the room: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457200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2976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Your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31136"/>
            <a:ext cx="42976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Role + how long in seat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33472"/>
            <a:ext cx="457200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2976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Your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44368"/>
            <a:ext cx="42976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Who depends on you · who you depend 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346704"/>
            <a:ext cx="457200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38144"/>
            <a:ext cx="42976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Your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2976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One thing you'd most like this engagement to move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59935"/>
            <a:ext cx="457200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51375"/>
            <a:ext cx="42976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Your concern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70831"/>
            <a:ext cx="42976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One thing that worries you about agentic AI in your business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463040"/>
            <a:ext cx="5333695" cy="4846320"/>
          </a:xfrm>
          <a:prstGeom prst="rect">
            <a:avLst/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54480"/>
            <a:ext cx="515081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FACILITATOR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874519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306"/>
                </a:solidFill>
                <a:latin typeface="Calibri"/>
              </a:rPr>
              <a:t>Listen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148839"/>
            <a:ext cx="5150815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Who in the room actually owns the customer in-the-moment relationship. Often it's NOT the most senior person.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71800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306"/>
                </a:solidFill>
                <a:latin typeface="Calibri"/>
              </a:rPr>
              <a:t>Avoid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246120"/>
            <a:ext cx="5150815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Letting one exec dominate. Use a timer (90s each).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069079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306"/>
                </a:solidFill>
                <a:latin typeface="Calibri"/>
              </a:rPr>
              <a:t>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343399"/>
            <a:ext cx="5150815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Each person's stated priority on the easel — these become the BVA scoring criteria later (slide 16).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166359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306"/>
                </a:solidFill>
                <a:latin typeface="Calibri"/>
              </a:rPr>
              <a:t>Body language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440679"/>
            <a:ext cx="5150815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Note who sits forward / pulls out a notebook when 'agentic AI' is mentioned. They're your champion.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Welcome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00:10 – 00:15  (5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Today's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5448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Welcome &amp; introductions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55448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5740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Today's agenda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05740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6032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56032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The thesis: replacing Alexa for commerce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56032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15m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01752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63239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063239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What APEX is (and isn't)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063239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2044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56616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The customer-journey spine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356616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0233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00:50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06908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LIVE DEMO — 7 chapters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06908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25m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5262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7200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01:15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57200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— Break 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457200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15m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02920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07492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01:30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07492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Exercise 1: Current-state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507492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30m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15087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155448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02:00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600" y="155448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The CFMP / CHC scenario catalog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155448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20116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205740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02:10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86600" y="205740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Exercise 2: Scenario shortlisting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205740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30m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251460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256032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02:40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256032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— Break 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09960" y="256032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301752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0" y="3063239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02:50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3063239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ROI calculator walkthrough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9960" y="3063239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20m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309360" y="352044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356616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03:10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356616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Pack Lite / Standard / Enterprise sizing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09960" y="356616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15m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402336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406908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03:25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406908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Funding paths (independence-safe)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60" y="406908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309360" y="452628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457200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03:35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457200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Exercise 3: Pack Lite scoping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109960" y="457200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15m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309360" y="5029200"/>
            <a:ext cx="5486400" cy="4114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5074920"/>
            <a:ext cx="594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03:50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86600" y="5074920"/>
            <a:ext cx="402336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Next-step commitments + SOW skeleton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09960" y="5074920"/>
            <a:ext cx="640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535B6B"/>
                </a:solidFill>
                <a:latin typeface="Calibri"/>
              </a:rPr>
              <a:t>10m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Agenda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00:15 – 00:30  (15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The Alexa problem — and why it's solvable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F2E"/>
                </a:solidFill>
                <a:latin typeface="Calibri"/>
              </a:rPr>
              <a:t>Amazon Alexa routes 70M US households' agentic-commerce queries to Amazon Fresh by default.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182880" cy="731520"/>
          </a:xfrm>
          <a:prstGeom prst="rect">
            <a:avLst/>
          </a:prstGeom>
          <a:solidFill>
            <a:srgbClr val="F0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932B"/>
                </a:solidFill>
                <a:latin typeface="Calibri"/>
              </a:rPr>
              <a:t>MERCHANDISER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94560"/>
            <a:ext cx="85953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Amazon competes for the basket. Skill placement = pay Amazon AND lose share.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718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182880" cy="731520"/>
          </a:xfrm>
          <a:prstGeom prst="rect">
            <a:avLst/>
          </a:prstGeom>
          <a:solidFill>
            <a:srgbClr val="F0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932B"/>
                </a:solidFill>
                <a:latin typeface="Calibri"/>
              </a:rPr>
              <a:t>TELCO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063240"/>
            <a:ext cx="85953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Alexa rides the pipe and bypasses every customer-facing ARPU opportunity.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0479"/>
            <a:ext cx="182880" cy="731520"/>
          </a:xfrm>
          <a:prstGeom prst="rect">
            <a:avLst/>
          </a:prstGeom>
          <a:solidFill>
            <a:srgbClr val="F0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31919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932B"/>
                </a:solidFill>
                <a:latin typeface="Calibri"/>
              </a:rPr>
              <a:t>HOUSEHOLD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931919"/>
            <a:ext cx="85953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Always-listening · no statutory privacy floor · ToS-based recourse only.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709159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709159"/>
            <a:ext cx="182880" cy="731520"/>
          </a:xfrm>
          <a:prstGeom prst="rect">
            <a:avLst/>
          </a:prstGeom>
          <a:solidFill>
            <a:srgbClr val="F0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800599"/>
            <a:ext cx="201168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0932B"/>
                </a:solidFill>
                <a:latin typeface="Calibri"/>
              </a:rPr>
              <a:t>REGULATOR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800599"/>
            <a:ext cx="859536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FTC 2023 settlement. Ongoing COPPA findings. No statutory custodian.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Thesis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THESIS  (CONTINUED)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There is no neutral alternative — until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A1F2E"/>
                </a:solidFill>
                <a:latin typeface="Calibri"/>
              </a:rPr>
              <a:t>APEX delivers what Alexa structurally cannot.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394960" cy="411480"/>
          </a:xfrm>
          <a:prstGeom prst="rect">
            <a:avLst/>
          </a:prstGeom>
          <a:solidFill>
            <a:srgbClr val="F09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21408"/>
            <a:ext cx="50292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ALEXA  (Amazon)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2057400"/>
            <a:ext cx="5394960" cy="4114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21408"/>
            <a:ext cx="50292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APEX  (Deloitte framework)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Privacy custodian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61488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Amazon (commercial ToS)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743200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761488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Telco (CPNI statutory) or Merch (LEDGER)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90672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Audit 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73552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91840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None disclosed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273552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291840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14-field WORM hash chain · apex-replay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621024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Hard rules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03904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822191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Amazon-internal 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03904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822191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constitution.yaml — blocks at runtime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51375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Multi-merchant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34255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52543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Skill-mediated, 30% Amazon cut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4334255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352543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Pack-mediated, no platform tax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681727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In-home privacy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864607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82895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'Mute' button (advisory)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864607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882895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hard_in_home mode (enforced) · raw frames stay home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79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DPO replay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59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413247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Not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5394959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413247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apex-replay reproduces byte-identical with consent 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742431"/>
            <a:ext cx="1110996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35B6B"/>
                </a:solidFill>
                <a:latin typeface="Calibri"/>
              </a:rPr>
              <a:t>Cross-cloud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925312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943599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Locked to AWS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5925312"/>
            <a:ext cx="5394960" cy="292608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5943599"/>
            <a:ext cx="512064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APEX-M / -G / -A · config change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Thesis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00:30 – 00:40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What APEX is — and what it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577840" cy="45720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39"/>
            <a:ext cx="52120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6BC25"/>
                </a:solidFill>
                <a:latin typeface="Calibri"/>
              </a:rPr>
              <a:t>WHAT APEX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A Deloitte agentic-AI delivery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Cloud-neutral: APEX-M / APEX-G / APEX-A (14 interfaces)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10-asset Industry Solution Pack bundle (CFMP, MERML,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Same 6-Agent Fleet across every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14-field WORM hash-chain LEDGER on every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Service Envelope tiers: Lite → Standard → Enterprise → Operate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BVA-funded entry; ISV Marketplace and DCIF funding paths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3776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Microsoft money rides Marketplace, never direct ECIF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49240"/>
            <a:ext cx="493776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Independence-safe by construction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54480"/>
            <a:ext cx="5486400" cy="4572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F09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91639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932B"/>
                </a:solidFill>
                <a:latin typeface="Calibri"/>
              </a:rPr>
              <a:t>WHAT APEX IS NOT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product license (no SKU)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46888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Microsoft co-sell (independence-safe by design)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8036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platform we ask you to host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29184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An Alexa-style commercial provider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0332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bespoke greenfield build for first-time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black box — Constitution and Pack manifests are inspectable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2628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Owned by Microsoft (the model is one of 14 interfaces)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A one-time deployment (Operate tier is durable run-rate)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349240"/>
            <a:ext cx="4846320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Locked to Azure (Pack manifests cloud-portable)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00:40 – 00:50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The customer-journey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A1F2E"/>
                </a:solidFill>
                <a:latin typeface="Calibri"/>
              </a:rPr>
              <a:t>Every CFMP / CHC scenario maps to exactly one moment in the customer's day.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072579" cy="29260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0725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F2E"/>
                </a:solidFill>
                <a:latin typeface="Calibri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188969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35B6B"/>
                </a:solidFill>
                <a:latin typeface="Calibri"/>
              </a:rPr>
              <a:t>What are we running out of?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889698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Pantry · fridge · consumption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34840"/>
            <a:ext cx="188969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6BC25"/>
                </a:solidFill>
                <a:latin typeface="Calibri"/>
              </a:rPr>
              <a:t>HOME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9779" y="3200400"/>
            <a:ext cx="228600" cy="365760"/>
          </a:xfrm>
          <a:prstGeom prst="rightArrow">
            <a:avLst/>
          </a:prstGeom>
          <a:solidFill>
            <a:srgbClr val="53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4099" y="2103120"/>
            <a:ext cx="2072579" cy="29260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4099" y="2194560"/>
            <a:ext cx="20725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F2E"/>
                </a:solidFill>
                <a:latin typeface="Calibri"/>
              </a:rPr>
              <a:t>CHOOSE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5539" y="2606040"/>
            <a:ext cx="188969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35B6B"/>
                </a:solidFill>
                <a:latin typeface="Calibri"/>
              </a:rPr>
              <a:t>What should we get?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3154680"/>
            <a:ext cx="1889698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Recipes · pairings · offers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5539" y="4434840"/>
            <a:ext cx="188969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6BC25"/>
                </a:solidFill>
                <a:latin typeface="Calibri"/>
              </a:rPr>
              <a:t>HOME + STORE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3200400"/>
            <a:ext cx="228600" cy="365760"/>
          </a:xfrm>
          <a:prstGeom prst="rightArrow">
            <a:avLst/>
          </a:prstGeom>
          <a:solidFill>
            <a:srgbClr val="53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9558" y="2103120"/>
            <a:ext cx="2072579" cy="29260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9558" y="2194560"/>
            <a:ext cx="20725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F2E"/>
                </a:solidFill>
                <a:latin typeface="Calibri"/>
              </a:rP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0997" y="2606040"/>
            <a:ext cx="188969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35B6B"/>
                </a:solidFill>
                <a:latin typeface="Calibri"/>
              </a:rPr>
              <a:t>Where &amp; when?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0997" y="3154680"/>
            <a:ext cx="1889698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Wayfinding · OSA · planogram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0997" y="4434840"/>
            <a:ext cx="188969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6BC25"/>
                </a:solidFill>
                <a:latin typeface="Calibri"/>
              </a:rPr>
              <a:t>STORE + HOME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40697" y="3200400"/>
            <a:ext cx="228600" cy="365760"/>
          </a:xfrm>
          <a:prstGeom prst="rightArrow">
            <a:avLst/>
          </a:prstGeom>
          <a:solidFill>
            <a:srgbClr val="53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017" y="2103120"/>
            <a:ext cx="2072579" cy="29260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017" y="2194560"/>
            <a:ext cx="20725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F2E"/>
                </a:solidFill>
                <a:latin typeface="Calibri"/>
              </a:rPr>
              <a:t>BUY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456" y="2606040"/>
            <a:ext cx="188969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35B6B"/>
                </a:solidFill>
                <a:latin typeface="Calibri"/>
              </a:rPr>
              <a:t>Confirm &amp; pay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456" y="3154680"/>
            <a:ext cx="1889698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Queue · BOPIS · SCO · cart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456" y="4434840"/>
            <a:ext cx="188969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6BC25"/>
                </a:solidFill>
                <a:latin typeface="Calibri"/>
              </a:rPr>
              <a:t>STORE + HOME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96156" y="3200400"/>
            <a:ext cx="228600" cy="365760"/>
          </a:xfrm>
          <a:prstGeom prst="rightArrow">
            <a:avLst/>
          </a:prstGeom>
          <a:solidFill>
            <a:srgbClr val="535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70476" y="2103120"/>
            <a:ext cx="2072579" cy="29260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70476" y="2194560"/>
            <a:ext cx="2072579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A1F2E"/>
                </a:solidFill>
                <a:latin typeface="Calibri"/>
              </a:rPr>
              <a:t>SERVICES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1916" y="2606040"/>
            <a:ext cx="188969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535B6B"/>
                </a:solidFill>
                <a:latin typeface="Calibri"/>
              </a:rPr>
              <a:t>How did it go?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1916" y="3154680"/>
            <a:ext cx="1889698" cy="1188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Loyalty · complaint · NPS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1916" y="4434840"/>
            <a:ext cx="188969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86BC25"/>
                </a:solidFill>
                <a:latin typeface="Calibri"/>
              </a:rPr>
              <a:t>CROSS-CHANNEL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CFMP base = in-store CHOOSE → SELECT → BUY → SERVICES.    CHC overlay = adds NEED (the household runs low).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5778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Each phase ships its own scenarios, Adaptive Cards, and Virtual Views.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Framework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00:50 – 01:15  (25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LIVE DEMO — share screen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10362895" cy="4572000"/>
          </a:xfrm>
          <a:prstGeom prst="roundRect">
            <a:avLst>
              <a:gd name="adj" fmla="val 10000"/>
            </a:avLst>
          </a:prstGeom>
          <a:solidFill>
            <a:srgbClr val="0E1423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98142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86BC25"/>
                </a:solidFill>
                <a:latin typeface="Calibri"/>
              </a:rPr>
              <a:t>Open your laptop. Share screen. Open this URL.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8142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onsolas"/>
              </a:rPr>
              <a:t>https://ca-visionkit-portal.gentlestone-9b49b099.eastus2.azurecontainerapps.io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98142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86BC25"/>
                </a:solidFill>
                <a:latin typeface="Calibri"/>
              </a:rPr>
              <a:t>Seven chapters · ~3 minutes each: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1 — Your shopper in your store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50208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2 — What happens when they linger (Proactive Associate)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242816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3 — Wayfinding via Azure Maps Creator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535424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4 — Cart hits $50: the HITL gate trips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28032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5 — Now imagine this in the kitchen (CHC)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120640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6 — The privacy contract (Constitution)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413248"/>
            <a:ext cx="94484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Ch 7 — How this becomes an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760720"/>
            <a:ext cx="98142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35B6B"/>
                </a:solidFill>
                <a:latin typeface="Calibri"/>
              </a:rPr>
              <a:t>Capture audience reactions: which chapter draws the leaning-in, which draws the eyebrow-raise. That's your follow-on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86BC25"/>
                </a:solidFill>
                <a:latin typeface="Calibri"/>
              </a:rPr>
              <a:t>— BREAK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15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Coffee · check in · the second half of the workshop is interactive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01:30 – 02:00  (30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Exercise 1 — Map your current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35B6B"/>
                </a:solidFill>
                <a:latin typeface="Calibri"/>
              </a:rPr>
              <a:t>On the easel: a 5-column journey-spine grid. Sticky-notes per 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2164019" cy="38404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66544"/>
            <a:ext cx="2072579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58379" y="2011680"/>
            <a:ext cx="2164019" cy="38404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4099" y="2066544"/>
            <a:ext cx="2072579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3838" y="2011680"/>
            <a:ext cx="2164019" cy="38404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9558" y="2066544"/>
            <a:ext cx="2072579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297" y="2011680"/>
            <a:ext cx="2164019" cy="38404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017" y="2066544"/>
            <a:ext cx="2072579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24756" y="2011680"/>
            <a:ext cx="2164019" cy="384048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0476" y="2066544"/>
            <a:ext cx="2072579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" y="2468880"/>
            <a:ext cx="411480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" y="2514600"/>
            <a:ext cx="393192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CURRENT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46888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58379" y="246888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13838" y="246888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69297" y="246888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24756" y="246888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" y="3246120"/>
            <a:ext cx="411480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" y="3291840"/>
            <a:ext cx="393192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CURRENT FRICTION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58379" y="324612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013838" y="324612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297" y="324612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24756" y="324612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" y="4023360"/>
            <a:ext cx="411480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" y="4069080"/>
            <a:ext cx="393192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CURRENT 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02336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58379" y="402336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13838" y="402336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269297" y="402336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24756" y="402336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" y="4800600"/>
            <a:ext cx="411480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" y="4846320"/>
            <a:ext cx="393192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CURRENT TECH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480060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758379" y="480060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013838" y="480060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269297" y="480060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24756" y="480060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" y="5577840"/>
            <a:ext cx="411480" cy="7315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" y="5623559"/>
            <a:ext cx="393192" cy="6400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YOUR GOAL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57784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58379" y="557784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013838" y="557784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269297" y="557784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24756" y="5577840"/>
            <a:ext cx="2164019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35B6B"/>
                </a:solidFill>
                <a:latin typeface="Calibri"/>
              </a:rPr>
              <a:t>FACILITATOR: each table gets 25m to fill the grid; 5m back-share, one phase per table to read out.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Exercise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EXERCISE 1 — COACHING 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Sample answers (don't reveal — use as facilitator cues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46304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645920"/>
            <a:ext cx="95097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Today: nothing. App reorder is manual. Alexa runs the wake-word. Pantry blind spot is real.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231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46304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79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CHOOSE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514600"/>
            <a:ext cx="95097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Email · push notifications · paid social. PDP search dies on niche queries. Recipes are static.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91839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39"/>
            <a:ext cx="146304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66159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383279"/>
            <a:ext cx="95097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Aisle directory on paper or in-app static. No live OSA. Planogram updated weekly.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46304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43484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51959"/>
            <a:ext cx="95097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Self-checkout queues unpredictable. BOPIS pickup counter chronically over/under-staffed.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292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029200"/>
            <a:ext cx="146304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12801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120640"/>
            <a:ext cx="950976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Loyalty churn measured monthly. Complaint triage routes to a contact center, 18-72hr SLA.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Exercise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02:00 – 02:10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The CFMP + CHC scenario catalog — 30 in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7632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CHOOSE  (5)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sampling-table-engagement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in-store-advertising-impact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personalized-offer-targeting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8036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review-summary-generation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product-search-relevance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7738" y="1554480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07738" y="1554480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9178" y="1627632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SELECT 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05740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wayfinding-walk-to-product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233172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on-shelf-availability-oos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0618" y="260604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shelf-gap-realtime-dispatch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288036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aisle-engagement-attribution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0618" y="315468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end-cap-display-roi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474720"/>
            <a:ext cx="3301898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35B6B"/>
                </a:solidFill>
                <a:latin typeface="Calibri"/>
              </a:rPr>
              <a:t>+ 1 more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1554480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6836" y="1554480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8276" y="1627632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BUY  (4)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9716" y="205740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wait-time-prediction-checkout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9716" y="233172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cart-dwell-abandonment-rescue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9716" y="260604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self-checkout-shrink-detection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288036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bopis-pickup-counter-load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77639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977639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050791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SERVICES  (3)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48055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loyalty-churn-winback 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75487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loyalty-tier-migration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02919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product-complaint-triage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07738" y="3977639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07738" y="3977639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99178" y="4050791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NEED (CHC)  (3)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0618" y="448055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pantry-inventory-inference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90618" y="475487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low-stock-voice-prompt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0618" y="502919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replenishment-cart-build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6836" y="3977639"/>
            <a:ext cx="3576218" cy="2194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6836" y="3977639"/>
            <a:ext cx="3576218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58276" y="4050791"/>
            <a:ext cx="3393338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CHC+  (9)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49716" y="448055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substitution-acceptance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49716" y="475487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pickup-window-optimization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49716" y="502919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delivery-vs-pickup-routing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49716" y="5303519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voice-confirmation-consent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49716" y="5577840"/>
            <a:ext cx="3301898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21825"/>
                </a:solidFill>
                <a:latin typeface="Calibri"/>
              </a:rPr>
              <a:t>• out-of-home-fallback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49716" y="5897879"/>
            <a:ext cx="3301898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535B6B"/>
                </a:solidFill>
                <a:latin typeface="Calibri"/>
              </a:rPr>
              <a:t>+ 4 more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Catalog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02:10 – 02:40  (30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Exercise 2 — Dot-voting scenario shortlist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35B6B"/>
                </a:solidFill>
                <a:latin typeface="Calibri"/>
              </a:rPr>
              <a:t>Two dots each. One on 'biggest impact'. One on 'fastest to value'. We tally and find Lite candidates.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4920" y="1920240"/>
            <a:ext cx="1371600" cy="3657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920240"/>
            <a:ext cx="1645920" cy="3657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3879" y="1920240"/>
            <a:ext cx="1463040" cy="3657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692640" y="1920240"/>
            <a:ext cx="2011680" cy="3657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975104"/>
            <a:ext cx="44805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975104"/>
            <a:ext cx="12801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75104"/>
            <a:ext cx="155448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Best-fit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975104"/>
            <a:ext cx="12801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 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1975104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Speed 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31720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rc-sampling-table-engagement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77440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CHOOSE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37744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Lite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377440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012680" y="2377440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670048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rc-cart-dwell-abandonment-rescue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2670048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BUY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70048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Lite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03920" y="2670048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012680" y="2670048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2916936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62656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cfmp-wayfinding-walk-to-product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66360" y="2962656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SELECT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962656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Lite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3920" y="2962656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012680" y="2962656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255264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rc-on-shelf-availability-oos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255264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SELECT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55264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255264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012680" y="3255264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3502152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547872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rc-shelf-gap-realtime-restock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3547872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SELECT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3547872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03920" y="3547872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12680" y="3547872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3840480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rc-customer-wait-time-prediction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3840480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BUY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384048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03920" y="3840480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12680" y="3840480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" y="4087368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133088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rc-loyalty-churn-winback 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66360" y="4133088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SERVICES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4133088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03920" y="4133088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10012680" y="4133088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425696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chc-pantry-inventory-inference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66360" y="4425696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NEED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0" y="4425696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Lite (CHC)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03920" y="4425696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012680" y="4425696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4672584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718304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chc-low-stock-voice-prompt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4718304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NEED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718304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Lite (CHC)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03920" y="4718304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012680" y="4718304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48640" y="5010912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chc-substitution-acceptance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166360" y="5010912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SELECT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5010912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 (CHC)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03920" y="5010912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12680" y="5010912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7200" y="5257800"/>
            <a:ext cx="11247120" cy="29260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8640" y="5303520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chc-loyalty-fusion-attribution ⭐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66360" y="5303520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SERVICES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303520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Enterprise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03920" y="5303520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012680" y="5303520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" y="5596128"/>
            <a:ext cx="44805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chc-delivery-arrival-handoff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66360" y="5596128"/>
            <a:ext cx="128016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SERVICES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596128"/>
            <a:ext cx="15544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Standard (CHC)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503920" y="5596128"/>
            <a:ext cx="8229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012680" y="5596128"/>
            <a:ext cx="1280160" cy="20116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535B6B"/>
                </a:solidFill>
                <a:latin typeface="Calibri"/>
              </a:rPr>
              <a:t>FACILITATOR: tally dots live on the easel. Lite = top 3-4 impact + speed combined.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Exercise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EXERCISE 2 —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Your shortlist (capture live)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6BC25"/>
                </a:solidFill>
                <a:latin typeface="Calibri"/>
              </a:rPr>
              <a:t>PACK LITE — 3 scenarios committed (Wave 1, 4-6 weeks, $150-400K)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107899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onsolas"/>
              </a:rPr>
              <a:t>1.  [scenario_id]                                       impact: ___   speed: 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7899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onsolas"/>
              </a:rPr>
              <a:t>2.  [scenario_id]                                       impact: ___   speed: 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107899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onsolas"/>
              </a:rPr>
              <a:t>3.  [scenario_id]                                       impact: ___   speed: 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11247120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27248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PACK STANDARD candidates (Wave 2, 12-16 weeks)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94176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13631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33087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681728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535B6B"/>
                </a:solidFill>
                <a:latin typeface="Calibri"/>
              </a:rPr>
              <a:t>PACK ENTERPRISE / future (Wave 3+)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48656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68112"/>
            <a:ext cx="10789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onsolas"/>
              </a:rPr>
              <a:t>•  [scenario_id]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Exercise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 i="0">
                <a:solidFill>
                  <a:srgbClr val="86BC25"/>
                </a:solidFill>
                <a:latin typeface="Calibri"/>
              </a:rPr>
              <a:t>— BREAK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FFFFFF"/>
                </a:solidFill>
                <a:latin typeface="Calibri"/>
              </a:rPr>
              <a:t>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Coming back to ROI and pricing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02:50 – 03:10  (20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ROI calculator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35B6B"/>
                </a:solidFill>
                <a:latin typeface="Calibri"/>
              </a:rPr>
              <a:t>Open: BVA-ROI-Calculator.xlsx — five tabs.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82880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67128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011680"/>
            <a:ext cx="91440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Color conventions · how to use · sources cited from CFMP §9 and CHC §6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8892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88920"/>
            <a:ext cx="182880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35808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80360"/>
            <a:ext cx="91440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Client baseline metrics in BLUE cells; YELLOW = high-leverage assumption (CFO attention)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182880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04487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Scenarios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749039"/>
            <a:ext cx="91440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21 scenarios with default lift % from the published designs; edit lift % live with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26279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526279"/>
            <a:ext cx="182880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73167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Outputs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617719"/>
            <a:ext cx="91440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Wave 1, 2, 3 + cumulative 3-yr TCV; Value : Cost ratio (target &gt;3x for engagement strength)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9496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1828800" cy="7315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41848"/>
            <a:ext cx="173736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486400"/>
            <a:ext cx="914400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±25% on 4 swing variables; finds the input that most needs CFO sign-off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ROI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03:10 – 03:25  (15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Pack tier sizing — Lite / Standard / Enterprise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3576218" cy="44805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76218" cy="6400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73352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F2E"/>
                </a:solidFill>
                <a:latin typeface="Calibri"/>
              </a:rPr>
              <a:t>$150-250K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3393338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4-6w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337560"/>
            <a:ext cx="2844698" cy="3657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210458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3 scenarios live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One sub-domain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BVA + DCIF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554480"/>
            <a:ext cx="3576218" cy="44805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7738" y="1554480"/>
            <a:ext cx="3576218" cy="6400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9178" y="1673352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9178" y="2331720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F2E"/>
                </a:solidFill>
                <a:latin typeface="Calibri"/>
              </a:rPr>
              <a:t>$500K-$1.5M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9178" y="2834640"/>
            <a:ext cx="3393338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12-16w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3498" y="3337560"/>
            <a:ext cx="2844698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0618" y="3474720"/>
            <a:ext cx="3210458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10 scenarios live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One sub-domain in prod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DCIF + T&amp;M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6836" y="1554480"/>
            <a:ext cx="3576218" cy="44805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66836" y="1554480"/>
            <a:ext cx="3576218" cy="64008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8276" y="1673352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ENTERPRISE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8276" y="2331720"/>
            <a:ext cx="3393338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A1F2E"/>
                </a:solidFill>
                <a:latin typeface="Calibri"/>
              </a:rPr>
              <a:t>$1.5-3.5M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8276" y="2834640"/>
            <a:ext cx="3393338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6-9mo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2596" y="3337560"/>
            <a:ext cx="2844698" cy="36576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9716" y="3474720"/>
            <a:ext cx="3210458" cy="2286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Full Pack (18)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Multi-banner rollout</a:t>
            </a:r>
          </a:p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Operate-ready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17220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236208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T1 Foundation (one-time per tenant): $400-700K · 6-10w · BVA+DCIF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6172200"/>
            <a:ext cx="5486400" cy="5029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535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6236208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A1F2E"/>
                </a:solidFill>
                <a:latin typeface="Calibri"/>
              </a:rPr>
              <a:t>T5 Operate (subscription run-rate): $25-110K/mo · continuous · client direct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Sizing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03:25 – 03:35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Funding paths — independence-safe by construction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002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182880" cy="5943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BVA (client-funded)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9164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Workshop fee — sometimes Deloitte-absorbed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1691640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T1, T2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82880" cy="5943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DCIF (Deloitte co-invest)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37744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Deloitte commits balance sheet against milestones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377440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T1, T2, T3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718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71800"/>
            <a:ext cx="182880" cy="59436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063240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ISV Marketplace burndown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6324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Client's Azure commitment burned down via 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063240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T2, T3, T4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D973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182880" cy="594360"/>
          </a:xfrm>
          <a:prstGeom prst="rect">
            <a:avLst/>
          </a:prstGeom>
          <a:solidFill>
            <a:srgbClr val="D973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49039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SI Teaming POC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49039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Non-competing SI receives MSFT funding; Deloitte sub-delivers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749039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T2, T3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434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182880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34840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Client direct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43484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Standard Deloitte-on-Deloitte-paper engagement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4434840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All tiers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0292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182880" cy="59436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20640"/>
            <a:ext cx="32004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F2E"/>
                </a:solidFill>
                <a:latin typeface="Calibri"/>
              </a:rPr>
              <a:t>T&amp;M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120640"/>
            <a:ext cx="5303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For custom build (T4) or extensions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120640"/>
            <a:ext cx="21031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T2, T3, T4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925312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INDEPENDENCE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163056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Deloitte is Microsoft's auditor. We never receive ECIF directly. Microsoft money flows via Marketplace or SI Teaming.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Funding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03:35 – 03:50  (15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Exercise 3 — Pack Lite scoping commitment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35B6B"/>
                </a:solidFill>
                <a:latin typeface="Calibri"/>
              </a:rPr>
              <a:t>Together: lock the Lite scope. Capture answers live on this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Three scenarios from Exercise 2 shortlist: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975104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1) _____________   2) _____________   3) 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87168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Variant — B2B2C, B2C, or in-store only: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487168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2542032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[A · B · in-store]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5409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Pilot scope — banner / store count / household count: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054096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3108960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Banner: ________  Stores: ___  HH: 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2102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Primary source-system adapter (one):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21024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675887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[POS · Planogram · Loyalty · Vision · Beacon]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87952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Privacy lead from your team: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187952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242816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Name: ________________  Org: 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Cloud architect engagement contact: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4754880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4809744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Name: ________________  Email: _____________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321808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Funding vehicle (per slide 18):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5321808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5376672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[BVA · DCIF · ISV Marketplace · SI Teaming · Direct · T&amp;M]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8873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Target SOW countersignature date: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5888736"/>
            <a:ext cx="5486400" cy="3657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943599"/>
            <a:ext cx="5303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onsolas"/>
              </a:rPr>
              <a:t>____ / ____ /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Exercise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03:50 – 04:00  (10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Next-step commitments + SOW skeleton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alibri"/>
              </a:rPr>
              <a:t>Three artifacts leave this room today: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914400" cy="9601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8600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14884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alibri"/>
              </a:rPr>
              <a:t>BVA workshop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468880"/>
            <a:ext cx="10058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One-page memo · scenarios committed · shortlist · sponsor names · target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914400" cy="96012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4612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alibri"/>
              </a:rPr>
              <a:t>ROI calculator (populated)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566160"/>
            <a:ext cx="10058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Wave 1/2/3 dollar impacts · Value:Cost ratio · sensitivity outputs · CFO-ready sign-off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206240"/>
            <a:ext cx="11247120" cy="9601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206240"/>
            <a:ext cx="914400" cy="9601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0559"/>
            <a:ext cx="7315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3.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43400"/>
            <a:ext cx="100584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A1F2E"/>
                </a:solidFill>
                <a:latin typeface="Calibri"/>
              </a:rPr>
              <a:t>SOW skeleton (Pack Lite)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63440"/>
            <a:ext cx="10058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Pre-filled with this session's outcomes · ready for redline · countersignature target [TARGET_DATE]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852160"/>
            <a:ext cx="11247120" cy="59436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THE COMMITMENT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By [target date]: SOW countersigned · BVA artifacts archived in Client + Deloitte SharePoint · engagement team named.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Talk tracks by buyer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CMO / VP-CX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Trip conversion · basket size · NPS · Amazon Fresh share — agentic layer that routes the basket to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402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CIO / CDO (Telco)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317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ARPU growth · churn · 5G stickiness · CPNI is your moat — Home Concierge tier on fiber/5G.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175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Chief Privacy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0175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Constitution blocks at runtime · consent_hash on every row · apex-replay for DPO + regulator.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118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033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Chief Digital / Head of 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7033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Active loyalty in-the-moment · same identity, same trust, now in the kitchen.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CISO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3891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Beelink home-edge privacy floor · Defender for IoT · 14-field forensic ledger on every decision.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834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0749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Cloud Architect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0749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14 interfaces, profile-swappable · pack manifests touch abstract API only · no lock-in.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6928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760720"/>
            <a:ext cx="274320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F2E"/>
                </a:solidFill>
                <a:latin typeface="Calibri"/>
              </a:rPr>
              <a:t>Procurement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760720"/>
            <a:ext cx="813816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Additive sub-tiers · independence-safe funding paths · BVA filters scope before commit.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Top 10 objections — one-line handlers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453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Isn't this just Alexa with a logo?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Alexa is a commercial provider; we deliver a regulated framework with statutory custodianship.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025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Microsoft does this with Foundry.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671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Foundry IS the runtime under APEX. We deliver the engagement layer above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4712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597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Framework lock-in?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243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Cloud-neutral. Manifests touch the 14-interface abstraction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169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How long to production?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BVA 4hr → Lite 4-6w live with 3 scenarios → Standard 12-16w.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1124712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741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Sounds expensive.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BVA filters scope; Lite then converts the workshop to a live engagement.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13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Privacy / children?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959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Constitution hard-blocks at runtime; raw frames never leave home; &lt;13 not enrolled.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51960"/>
            <a:ext cx="1124712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885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Switch off Azure later?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4531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Same pack runs on G or A — config change, not re-platform.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457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We already have an Alexa Skill.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03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Skill routes 30% to Amazon AND competes vs Fresh by default. We replace the backend.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66360"/>
            <a:ext cx="11247120" cy="4114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029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Independence rules?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3675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Microsoft money via Marketplace + SI Teaming. Never direct ECIF.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0136"/>
            <a:ext cx="393192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Q: We don't have the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824728"/>
            <a:ext cx="10972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A: Pack ships synthetic demo data + source adapters + 60+ acceptance tests.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Independence language discipline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932B"/>
                </a:solidFill>
                <a:latin typeface="Calibri"/>
              </a:rPr>
              <a:t>NEVER SAY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Microsoft partner / alliance / co-sell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Microsoft funds Deloitte / pays Deloitte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ECIF (client-facing)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72384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Joint Microsoft commercial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✗  Microsoft GTM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86BC25"/>
                </a:solidFill>
                <a:latin typeface="Calibri"/>
              </a:rPr>
              <a:t>ALWAYS SAY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Deloitte's Microsoft practice / DMTSP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04288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Microsoft technology / cloud 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88336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Microsoft money via ISV Marketplace burndown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72384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Independent of Microsoft (Deloitte's role)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56432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21825"/>
                </a:solidFill>
                <a:latin typeface="Calibri"/>
              </a:rPr>
              <a:t>✓  Cloud profile: Microsoft / APEX-M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THE INDEPENDENCE SENTENCE (always ready)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"Deloitte is Microsoft's auditor. SEC rules forbid us receiving ECIF directly from Microsoft. We've engineered the funding paths around that constraint — Microsoft money flows via Marketplace burndown or SI Teaming, never directly to Deloitte. Our language discipline reflects the rule."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Constitution.yaml — six hard rules (in-home mode)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1. No raw frames leave the home — embeddings + canonical event JSON only.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04872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2. No off-list inferences — agents may only emit events for pre-enrolled product list.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18104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27832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3. Per-member consent required for voice-print enrollment. Under 13: cannot be enrolled.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31335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41063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4. "Privacy minute" voice command pauses all cameras/mics for 60 minutes.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44568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654296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5. Quiet-hours hard floor: no proactive voice prompts 10pm–7am, ever.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90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367528"/>
            <a:ext cx="1097280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21825"/>
                </a:solidFill>
                <a:latin typeface="Calibri"/>
              </a:rPr>
              <a:t>6. No cross-household correlation — partition + LEDGER per-tenant filter at query plane.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535B6B"/>
                </a:solidFill>
                <a:latin typeface="Calibri"/>
              </a:rPr>
              <a:t>These rules block at the RUNTIME layer — not as policy, as code. Auditable. DPO-reviewable. Inspectable.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Consumer hardware BOM — shipping today on Amazon Prime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64792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64792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64792"/>
            <a:ext cx="22860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Live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64792"/>
            <a:ext cx="14630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1764792"/>
            <a:ext cx="16459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48840"/>
            <a:ext cx="112471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Edge ML +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24028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NVIDIA Jetson Orin Nano Dev Kit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24028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35B6B"/>
                </a:solidFill>
                <a:latin typeface="Calibri"/>
              </a:rPr>
              <a:t>1K+/mo · 371 ratings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240280"/>
            <a:ext cx="1463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21825"/>
                </a:solidFill>
                <a:latin typeface="Calibri"/>
              </a:rPr>
              <a:t>$249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12680" y="2240280"/>
            <a:ext cx="16459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Overnight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743200"/>
            <a:ext cx="112471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83464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+ Waveshare aluminum case w/ camera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35B6B"/>
                </a:solidFill>
                <a:latin typeface="Calibri"/>
              </a:rPr>
              <a:t>100+/mo · 142 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834640"/>
            <a:ext cx="1463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21825"/>
                </a:solidFill>
                <a:latin typeface="Calibri"/>
              </a:rPr>
              <a:t>$24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834640"/>
            <a:ext cx="16459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Tomorrow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37560"/>
            <a:ext cx="112471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42900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Smart speaker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342900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Sonos Era 100 (Alexa-Enabled — replaceable backend)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35B6B"/>
                </a:solidFill>
                <a:latin typeface="Calibri"/>
              </a:rPr>
              <a:t>500+/mo · 2,566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429000"/>
            <a:ext cx="1463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21825"/>
                </a:solidFill>
                <a:latin typeface="Calibri"/>
              </a:rPr>
              <a:t>$189 (was $219)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3429000"/>
            <a:ext cx="16459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Tomorrow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2336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Kitchen kiosk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02336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Android 16 tablet 11" Octa-Core 28GB 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02336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35B6B"/>
                </a:solidFill>
                <a:latin typeface="Calibri"/>
              </a:rPr>
              <a:t>1K+/mo · 1,078 ratings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023360"/>
            <a:ext cx="1463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21825"/>
                </a:solidFill>
                <a:latin typeface="Calibri"/>
              </a:rPr>
              <a:t>$110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12680" y="4023360"/>
            <a:ext cx="16459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Overnight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526280"/>
            <a:ext cx="11247120" cy="5486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617720"/>
            <a:ext cx="18288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F2E"/>
                </a:solidFill>
                <a:latin typeface="Calibri"/>
              </a:rPr>
              <a:t>TOTAL household starter kit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617720"/>
            <a:ext cx="36576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21825"/>
                </a:solidFill>
                <a:latin typeface="Calibri"/>
              </a:rPr>
              <a:t>Per-household BOM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4617720"/>
            <a:ext cx="228600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35B6B"/>
                </a:solidFill>
                <a:latin typeface="Calibr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617720"/>
            <a:ext cx="1463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86BC25"/>
                </a:solidFill>
                <a:latin typeface="Calibri"/>
              </a:rPr>
              <a:t>~$572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12680" y="4617720"/>
            <a:ext cx="16459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535B6B"/>
                </a:solidFill>
                <a:latin typeface="Calibri"/>
              </a:rPr>
              <a:t>All Prime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Variant A cross-pack scenario chain — chc-replenishment-cycle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5486400" cy="43891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86BC25"/>
                </a:solidFill>
                <a:latin typeface="Calibri"/>
              </a:rPr>
              <a:t>TCP — APEX-M PRIMARY (AT&amp;T tenant)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8463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Agent 1 — Assess pantry need (tcml.pantry_state)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06039"/>
            <a:ext cx="48463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Agent 2 — Classify urgency / substitutions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8463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Agent 3 — Quantify replen qty (consumption pattern 7d)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11880"/>
            <a:ext cx="48463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Agent 4 — Build household card → sonos_voice OR home_kiosk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4846320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Persona household — confirm or modify cart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035040" y="3474720"/>
            <a:ext cx="365760" cy="548640"/>
          </a:xfrm>
          <a:prstGeom prst="rightArrow">
            <a:avLst/>
          </a:prstGeom>
          <a:solidFill>
            <a:srgbClr val="1A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4069080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1A1F2E"/>
                </a:solidFill>
                <a:latin typeface="Calibri"/>
              </a:rPr>
              <a:t>imports: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4297680"/>
            <a:ext cx="73152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35B6B"/>
                </a:solidFill>
                <a:latin typeface="Calibri"/>
              </a:rPr>
              <a:t>Interface #12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554480"/>
            <a:ext cx="5120640" cy="438912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2540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91640"/>
            <a:ext cx="48463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A1F2E"/>
                </a:solidFill>
                <a:latin typeface="Calibri"/>
              </a:rPr>
              <a:t>CFMP — APEX-A SATELLITE (Kroger tenant)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03120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merml.product_with_planogram_location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514600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merml.delivery_slot_inventory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926079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cxml.loyalty_state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337560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cfmp.add_to_cart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749039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cfmp.reserve_delivery_slot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160520"/>
            <a:ext cx="457200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121825"/>
                </a:solidFill>
                <a:latin typeface="Calibri"/>
              </a:rPr>
              <a:t>• cfmp.confirm_order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86BC25"/>
                </a:solidFill>
                <a:latin typeface="Calibri"/>
              </a:rPr>
              <a:t>Eight LedgerRows land in AT&amp;T's LEDGER. Kroger writes none. One audit chain across two corporate clouds.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Three-year sequencing (joint Variant A +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03120"/>
            <a:ext cx="11887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Y1 FY27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160020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645920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VARIANT A (B2B2C)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40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AT&amp;T × Kroger pilot 1 DMA (DFW or Houston)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~1,000 households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60020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645920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VARIANT B (B2C)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1920240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Kroger Plus Premium pilot 2 banners (Smith's + Mariano's)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~5,000 households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1371600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611880"/>
            <a:ext cx="11887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Y2 FY28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10896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3154679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VARIANT A (B2B2C)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429000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AT&amp;T national rollout ~100K households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+ Verizon × Walmart pilot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310896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154679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VARIANT B (B2C)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429000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Kroger national + Walmart+ launch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1371600" cy="1371600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120640"/>
            <a:ext cx="11887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Y3 FY29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61772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635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663440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VARIANT A (B2B2C)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937759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All Tier-1 carriers × Tier-1 merchandisers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~10 pairings · multi-million household scale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4617720"/>
            <a:ext cx="4846320" cy="13716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4663440"/>
            <a:ext cx="46634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F2E"/>
                </a:solidFill>
                <a:latin typeface="Calibri"/>
              </a:rPr>
              <a:t>VARIANT B (B2C)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937759"/>
            <a:ext cx="4572000" cy="10058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Every Tier-1 merch has direct variant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21825"/>
                </a:solidFill>
                <a:latin typeface="Calibri"/>
              </a:rPr>
              <a:t>In-store + in-home + Variant-A federation share schemas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86BC25"/>
                </a:solidFill>
                <a:latin typeface="Calibri"/>
              </a:rPr>
              <a:t>OPEN THE DEMO ANYTIME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94560"/>
            <a:ext cx="10362895" cy="1828800"/>
          </a:xfrm>
          <a:prstGeom prst="roundRect">
            <a:avLst>
              <a:gd name="adj" fmla="val 10000"/>
            </a:avLst>
          </a:prstGeom>
          <a:solidFill>
            <a:srgbClr val="1A1F2E"/>
          </a:solidFill>
          <a:ln w="25400">
            <a:solidFill>
              <a:srgbClr val="86B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628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6BC25"/>
                </a:solidFill>
                <a:latin typeface="Calibri"/>
              </a:rPr>
              <a:t>Working demo · live in a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2895" cy="7315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onsolas"/>
              </a:rPr>
              <a:t>ca-visionkit-portal.gentlestone-9b49b099.eastus2.azurecontainerapps.io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3628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/architecture page = APEX framework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APEX Tour flyout (right side) = guided walkthrough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6BC25"/>
                </a:solidFill>
                <a:latin typeface="Calibri"/>
              </a:rPr>
              <a:t>BACKUP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F2E"/>
                </a:solidFill>
                <a:latin typeface="Calibri"/>
              </a:rPr>
              <a:t>Workshop output kit — what leaves the room with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548640" cy="36576"/>
          </a:xfrm>
          <a:prstGeom prst="rect">
            <a:avLst/>
          </a:prstGeom>
          <a:solidFill>
            <a:srgbClr val="1A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BVA-ROI-Calculator.xlsx — populated with this session's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SOW-APEX-CFMP-Pack-Lite.docx — pre-filled, ready for redline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688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SOW-APEX-CFMP-Pack-Standard.docx — for Wave-2 follow-on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718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SOW-APEX-CFMP-Pack-Enterprise.docx — for Wave-3 program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CFMP-Pack-Lite-Wedge-for-DMTSP-Sellers.md — the engagement one-pager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8404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Connected-Home-Commerce-v0.1.md — CHC design (B2B2C + B2C)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976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434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APEX-CFMP-CHC-Sellers-Guide-for-DMTSP.md — field reference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7548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8006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Sellers-Quick-Reference-Card.pdf — print and fold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212080"/>
            <a:ext cx="11247120" cy="384048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6350">
            <a:solidFill>
              <a:srgbClr val="1A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257800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21825"/>
                </a:solidFill>
                <a:latin typeface="Calibri"/>
              </a:rPr>
              <a:t>• This deck (BVA-Workshop-Facilitator-Deck.pptx)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65392"/>
            <a:ext cx="11460175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BVA Workshop ·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565392"/>
            <a:ext cx="1097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86B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77295" cy="10972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0" b="1" i="0">
                <a:solidFill>
                  <a:srgbClr val="86BC25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1127729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Three artifacts. One commitment. SOW countersignature by [TARGET_DATE].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35B6B"/>
                </a:solidFill>
                <a:latin typeface="Calibri"/>
              </a:rPr>
              <a:t>[LCSP_NAME] · Deloitte's Microsoft Technology &amp; Services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77295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535B6B"/>
                </a:solidFill>
                <a:latin typeface="Calibri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
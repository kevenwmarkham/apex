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9" d="100"/>
          <a:sy n="119" d="100"/>
        </p:scale>
        <p:origin x="272" y="-3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772400" cy="77724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7772400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1323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APEX  ·  CFMP  ·  CHC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71323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6BC25"/>
                </a:solidFill>
                <a:latin typeface="Calibri"/>
              </a:rPr>
              <a:t>Sellers Quick Reference  ·  Deloitte's Microsoft Practice (DMTSP)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7223760" cy="105156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694944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THE 60-SECOND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38747"/>
            <a:ext cx="694944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dirty="0">
                <a:solidFill>
                  <a:srgbClr val="121825"/>
                </a:solidFill>
                <a:latin typeface="Calibri"/>
              </a:rPr>
              <a:t>Deloitte has built an agentic-commerce delivery framework called APEX. We've shipped a working merchandise demo on Microsoft Foundry — 800 SKUs in a vector catalog, voice-driven shopping with Azure Speech, a 14-field cryptographic audit trail, customer journey from CHOOSE through pickup. We've extended it into the home: cameras, Sonos, kitchen tablet, privacy regime tougher than Alexa by construction. Scoped engagement to your team: 4-hour BVA workshop → 4-6w Pack Lite live with 3 scenarios for $150-400K. Demo runs in a browser. Want me to share my screen?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352044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148839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5 WHITEBOARD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7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Alexa contrast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95727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Amazon (commercial ToS) vs Telco/Merch (CPNI / LEDGER)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06039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APEX pancake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606039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Scenarios → VVs → 6-Agent → LEDGER → Cloud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16351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Journey spine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16351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NEED → CHOOSE → SELECT → BUY →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026663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Two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026663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B2B2C Telco-fronted   |   B2C Merch-direct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236975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Envelope ladder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236975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T1 Foundation → T2 Pack → T3 Scenario → T4 Custom → T5 Operate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79"/>
            <a:ext cx="3520440" cy="192024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657599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BUYER ONE-LINERS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904487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CMO/CX-VP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04487"/>
            <a:ext cx="2423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Voice replenishment in YOUR voice; basket routed to you, not Amazon.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160520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CIO/CDO (Telco)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60520"/>
            <a:ext cx="2423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CPNI is your moat; add $25-40/mo Home Concierge tier on 5G/fiber.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416552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DPO/CPO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16552"/>
            <a:ext cx="2423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Constitution blocks at runtime, not policy; consent-hash on every row.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672583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CISO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672583"/>
            <a:ext cx="2423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Beelink on-prem privacy floor; raw frames never leave the home.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928616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Architect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928616"/>
            <a:ext cx="2423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14-interface profile contract; pack manifests touch only the abstraction.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184648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Procurement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184648"/>
            <a:ext cx="24231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Three additive sub-tiers, no rework. ISV burndown for Microsoft money.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2103120"/>
            <a:ext cx="3520440" cy="169164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06240" y="2148839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PRICE LADDER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2294134"/>
            <a:ext cx="1508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535B6B"/>
                </a:solidFill>
                <a:latin typeface="Calibri"/>
              </a:rPr>
              <a:t>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3288" y="2294134"/>
            <a:ext cx="10058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535B6B"/>
                </a:solidFill>
                <a:latin typeface="Calibri"/>
              </a:rPr>
              <a:t>Price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294134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535B6B"/>
                </a:solidFill>
                <a:latin typeface="Calibri"/>
              </a:rPr>
              <a:t>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2477015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BVA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2477015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$0-50K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2477015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1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2641607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dirty="0">
                <a:solidFill>
                  <a:srgbClr val="1A1F2E"/>
                </a:solidFill>
                <a:latin typeface="Calibri"/>
              </a:rPr>
              <a:t>T1 Foundation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2641607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$400-700K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641607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6-10w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2806198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CFMP Pack Lite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33288" y="2806198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$150-250K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2806198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4-6w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2970791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CHC Pack Lite (B2C)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33288" y="2970791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$250-400K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2970791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6-8w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3135383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Pack Standard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3135383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$500K-1.5M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3135383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12-16w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3299975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Pack Enterprise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3299975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$1.5-3.5M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3299975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6-9mo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3464567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Cross-pack (A)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3288" y="3464567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$250-400K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3464567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4-6w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3629159"/>
            <a:ext cx="15087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A1F2E"/>
                </a:solidFill>
                <a:latin typeface="Calibri"/>
              </a:rPr>
              <a:t>T5 Operate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3629159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21825"/>
                </a:solidFill>
                <a:latin typeface="Calibri"/>
              </a:rPr>
              <a:t>$25-110K/mo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3629159"/>
            <a:ext cx="731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35B6B"/>
                </a:solidFill>
                <a:latin typeface="Calibri"/>
              </a:rPr>
              <a:t>ongoing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69080" y="3886200"/>
            <a:ext cx="3520440" cy="164592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06240" y="3931920"/>
            <a:ext cx="3246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INDEPENDENCE LANGUAGE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0" y="4197096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D97306"/>
                </a:solidFill>
                <a:latin typeface="Calibri"/>
              </a:rPr>
              <a:t>NEVER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0" y="4197096"/>
            <a:ext cx="25146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“Microsoft partner / alliance”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0" y="4361688"/>
            <a:ext cx="25146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“Microsoft funds Deloitte”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0" y="4526280"/>
            <a:ext cx="25146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“ECIF” in client convo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4690872"/>
            <a:ext cx="25146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“Joint Microsoft commercial”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0" y="4892040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6BC25"/>
                </a:solidFill>
                <a:latin typeface="Calibri"/>
              </a:rPr>
              <a:t>ALWAYS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0" y="4892040"/>
            <a:ext cx="25146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“Deloitte's Microsoft practice / DMTSP”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0" y="5038344"/>
            <a:ext cx="25146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“Microsoft money via ISV Marketplace”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0" y="5184648"/>
            <a:ext cx="25146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“Cloud profile: Microsoft / APEX-M”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5330952"/>
            <a:ext cx="25146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• “Independent of Microsoft”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989320"/>
            <a:ext cx="4114800" cy="283464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1480" y="6035040"/>
            <a:ext cx="39319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TOP OBJECTIONS — ONE-LINE HANDLERS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6300216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Just Alexa with a logo?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6419087"/>
            <a:ext cx="4251960" cy="16100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dirty="0">
                <a:solidFill>
                  <a:srgbClr val="121825"/>
                </a:solidFill>
                <a:latin typeface="Calibri"/>
              </a:rPr>
              <a:t>A: Alexa is a commercial provider; we deliver a regulated framework with statutory custodianship.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6547801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dirty="0">
                <a:solidFill>
                  <a:srgbClr val="1A1F2E"/>
                </a:solidFill>
                <a:latin typeface="Calibri"/>
              </a:rPr>
              <a:t>Q: Microsoft does this with Foundry.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6693407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Foundry IS the runtime under APEX. We deliver the engagement layer above.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6848855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Framework lock-in?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6967727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Cloud-neutral. Pack manifests touch only the 14-interface abstraction.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7123175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How long to production?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7242047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BVA 4hr → Lite 4-6w live with 3 scenarios → Standard 12-16w.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7397496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Sounds expensive.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7516368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BVA filters scope; Lite then converts the workshop to a live engagement.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7671816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Privacy / children?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7790688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Constitution hard-blocks at runtime; raw frames never leave home; &lt;13 not enrolled.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" y="7946136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Switch off Azure later?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" y="8065008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Same pack runs on G or A — config change, not re-platform.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8220456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Existing Alexa Skill?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8339328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Skill routes 30% to Amazon AND competes vs Fresh by default. We replace the backend.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8494776"/>
            <a:ext cx="3840480" cy="128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A1F2E"/>
                </a:solidFill>
                <a:latin typeface="Calibri"/>
              </a:rPr>
              <a:t>Q: Independence rules?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8613648"/>
            <a:ext cx="38404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21825"/>
                </a:solidFill>
                <a:latin typeface="Calibri"/>
              </a:rPr>
              <a:t>A: Microsoft money via ISV Marketplace + SI Teaming. Never direct ECIF.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26280" y="5989320"/>
            <a:ext cx="2971800" cy="283464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663440" y="603504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THE STANDARD CLOSE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63440" y="6291072"/>
            <a:ext cx="27432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“I'd like to set up a 4-hour BVA workshop with your CMO/CX team and our delivery lead. We come with the demo on a laptop, shortlist 3-5 scenarios, and produce a Pack Lite SOW skeleton in the same session. Half a day in the next two weeks?”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0" y="7406640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86BC25"/>
                </a:solidFill>
                <a:latin typeface="Calibri"/>
              </a:rPr>
              <a:t>5 PITCH LENGTHS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3440" y="7662671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6BC25"/>
                </a:solidFill>
                <a:latin typeface="Calibri"/>
              </a:rPr>
              <a:t>30s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74920" y="7662671"/>
            <a:ext cx="233172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Elevator / LinkedIn DM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63440" y="7827263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6BC25"/>
                </a:solidFill>
                <a:latin typeface="Calibri"/>
              </a:rPr>
              <a:t>60s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74920" y="7827263"/>
            <a:ext cx="233172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Discovery-call opener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63440" y="7991855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6BC25"/>
                </a:solidFill>
                <a:latin typeface="Calibri"/>
              </a:rPr>
              <a:t>5m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74920" y="7991855"/>
            <a:ext cx="233172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Meeting slot, no demo yet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63440" y="8156447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6BC25"/>
                </a:solidFill>
                <a:latin typeface="Calibri"/>
              </a:rPr>
              <a:t>15m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74920" y="8156447"/>
            <a:ext cx="233172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Demo = the pitch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63440" y="8321040"/>
            <a:ext cx="36576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6BC25"/>
                </a:solidFill>
                <a:latin typeface="Calibri"/>
              </a:rPr>
              <a:t>45m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74920" y="8321040"/>
            <a:ext cx="233172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Exec briefing w/ v5 deck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63440" y="8531352"/>
            <a:ext cx="27432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>
                <a:solidFill>
                  <a:srgbClr val="86BC25"/>
                </a:solidFill>
                <a:latin typeface="Calibri"/>
              </a:rPr>
              <a:t>DEMO URL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63440" y="8659367"/>
            <a:ext cx="27432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FFFFFF"/>
                </a:solidFill>
                <a:latin typeface="Consolas"/>
              </a:rPr>
              <a:t>ca-visionkit-portal...azurecontainerapps.io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9646920"/>
            <a:ext cx="7772400" cy="411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74320" y="9692640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CCD0D9"/>
                </a:solidFill>
                <a:latin typeface="Calibri"/>
              </a:rPr>
              <a:t>Internal · Deloitte's Microsoft Technology &amp; Services Practice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4320" y="9857232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9096A3"/>
                </a:solidFill>
                <a:latin typeface="Calibri"/>
              </a:rPr>
              <a:t>Prepared by Keven Markham, VP  ·  2026-05-23  ·  Companion to APEX-CFMP-CHC-Sellers-Guide-for-DMTSP.md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723</Words>
  <Application>Microsoft Office PowerPoint</Application>
  <PresentationFormat>Custom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Markham, Keven</cp:lastModifiedBy>
  <cp:revision>2</cp:revision>
  <dcterms:created xsi:type="dcterms:W3CDTF">2013-01-27T09:14:16Z</dcterms:created>
  <dcterms:modified xsi:type="dcterms:W3CDTF">2026-05-23T18:29:22Z</dcterms:modified>
  <cp:category/>
</cp:coreProperties>
</file>